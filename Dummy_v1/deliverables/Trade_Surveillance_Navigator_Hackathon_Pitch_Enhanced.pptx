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7d88c0b4f4453e" /><Relationship Type="http://schemas.openxmlformats.org/officeDocument/2006/relationships/extended-properties" Target="/docProps/app.xml" Id="Rae30b1126360418f" /><Relationship Type="http://schemas.openxmlformats.org/officeDocument/2006/relationships/officeDocument" Target="/ppt/presentation.xml" Id="Ra6fdde2befd140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c159c682b540d4"/>
  </p:sldMasterIdLst>
  <p:notesMasterIdLst>
    <p:notesMasterId xmlns:r="http://schemas.openxmlformats.org/officeDocument/2006/relationships" r:id="R4041da3c902a4818"/>
  </p:notesMasterIdLst>
  <p:sldIdLst>
    <p:sldId xmlns:r="http://schemas.openxmlformats.org/officeDocument/2006/relationships" id="256" r:id="R9a8495b0159f4cd3"/>
    <p:sldId xmlns:r="http://schemas.openxmlformats.org/officeDocument/2006/relationships" id="257" r:id="R9f16ebfd0dbf498d"/>
    <p:sldId xmlns:r="http://schemas.openxmlformats.org/officeDocument/2006/relationships" id="258" r:id="R5379734c14144b1d"/>
    <p:sldId xmlns:r="http://schemas.openxmlformats.org/officeDocument/2006/relationships" id="259" r:id="R517da9f4462d4dca"/>
    <p:sldId xmlns:r="http://schemas.openxmlformats.org/officeDocument/2006/relationships" id="260" r:id="R2c647318b5054779"/>
    <p:sldId xmlns:r="http://schemas.openxmlformats.org/officeDocument/2006/relationships" id="261" r:id="R8e677bb3964347d2"/>
    <p:sldId xmlns:r="http://schemas.openxmlformats.org/officeDocument/2006/relationships" id="262" r:id="R28ac43e400024759"/>
    <p:sldId xmlns:r="http://schemas.openxmlformats.org/officeDocument/2006/relationships" id="263" r:id="R816f98010dcc47bd"/>
    <p:sldId xmlns:r="http://schemas.openxmlformats.org/officeDocument/2006/relationships" id="264" r:id="R1d2cce8b1fac4408"/>
    <p:sldId xmlns:r="http://schemas.openxmlformats.org/officeDocument/2006/relationships" id="265" r:id="R7a0c8082672443cc"/>
    <p:sldId xmlns:r="http://schemas.openxmlformats.org/officeDocument/2006/relationships" id="266" r:id="R49c1eb0b7fa3482c"/>
    <p:sldId xmlns:r="http://schemas.openxmlformats.org/officeDocument/2006/relationships" id="267" r:id="R42a82de4504d4a27"/>
    <p:sldId xmlns:r="http://schemas.openxmlformats.org/officeDocument/2006/relationships" id="268" r:id="Ra2bc19e3637f44b3"/>
    <p:sldId xmlns:r="http://schemas.openxmlformats.org/officeDocument/2006/relationships" id="269" r:id="R1664894c6d0d44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5b982846234d0a" /><Relationship Type="http://schemas.openxmlformats.org/officeDocument/2006/relationships/slideMaster" Target="/ppt/slideMasters/slideMaster1.xml" Id="R91c159c682b540d4" /><Relationship Type="http://schemas.openxmlformats.org/officeDocument/2006/relationships/notesMaster" Target="/ppt/notesMasters/notesMaster1.xml" Id="R4041da3c902a4818" /><Relationship Type="http://schemas.openxmlformats.org/officeDocument/2006/relationships/presProps" Target="/ppt/presProps.xml" Id="R66487389407c4356" /><Relationship Type="http://schemas.openxmlformats.org/officeDocument/2006/relationships/tableStyles" Target="/ppt/tableStyles.xml" Id="R1ac09ea1b89e48a9" /><Relationship Type="http://schemas.openxmlformats.org/officeDocument/2006/relationships/slide" Target="/ppt/slides/slide1.xml" Id="R9a8495b0159f4cd3" /><Relationship Type="http://schemas.openxmlformats.org/officeDocument/2006/relationships/slide" Target="/ppt/slides/slide2.xml" Id="R9f16ebfd0dbf498d" /><Relationship Type="http://schemas.openxmlformats.org/officeDocument/2006/relationships/slide" Target="/ppt/slides/slide3.xml" Id="R5379734c14144b1d" /><Relationship Type="http://schemas.openxmlformats.org/officeDocument/2006/relationships/slide" Target="/ppt/slides/slide4.xml" Id="R517da9f4462d4dca" /><Relationship Type="http://schemas.openxmlformats.org/officeDocument/2006/relationships/slide" Target="/ppt/slides/slide5.xml" Id="R2c647318b5054779" /><Relationship Type="http://schemas.openxmlformats.org/officeDocument/2006/relationships/slide" Target="/ppt/slides/slide6.xml" Id="R8e677bb3964347d2" /><Relationship Type="http://schemas.openxmlformats.org/officeDocument/2006/relationships/slide" Target="/ppt/slides/slide7.xml" Id="R28ac43e400024759" /><Relationship Type="http://schemas.openxmlformats.org/officeDocument/2006/relationships/slide" Target="/ppt/slides/slide8.xml" Id="R816f98010dcc47bd" /><Relationship Type="http://schemas.openxmlformats.org/officeDocument/2006/relationships/slide" Target="/ppt/slides/slide9.xml" Id="R1d2cce8b1fac4408" /><Relationship Type="http://schemas.openxmlformats.org/officeDocument/2006/relationships/slide" Target="/ppt/slides/slide10.xml" Id="R7a0c8082672443cc" /><Relationship Type="http://schemas.openxmlformats.org/officeDocument/2006/relationships/slide" Target="/ppt/slides/slide11.xml" Id="R49c1eb0b7fa3482c" /><Relationship Type="http://schemas.openxmlformats.org/officeDocument/2006/relationships/slide" Target="/ppt/slides/slide12.xml" Id="R42a82de4504d4a27" /><Relationship Type="http://schemas.openxmlformats.org/officeDocument/2006/relationships/slide" Target="/ppt/slides/slide13.xml" Id="Ra2bc19e3637f44b3" /><Relationship Type="http://schemas.openxmlformats.org/officeDocument/2006/relationships/slide" Target="/ppt/slides/slide14.xml" Id="R1664894c6d0d44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3f124e47974e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6e68df8f2544fc" /><Relationship Type="http://schemas.openxmlformats.org/officeDocument/2006/relationships/notesMaster" Target="/ppt/notesMasters/notesMaster1.xml" Id="R9d6f4e6afd7945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c7cf5ef2614ae8" /><Relationship Type="http://schemas.openxmlformats.org/officeDocument/2006/relationships/notesMaster" Target="/ppt/notesMasters/notesMaster1.xml" Id="R9b3e2c9c595c4b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cbc204b1804920" /><Relationship Type="http://schemas.openxmlformats.org/officeDocument/2006/relationships/notesMaster" Target="/ppt/notesMasters/notesMaster1.xml" Id="R623db8a7d5004a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466bacf8434933" /><Relationship Type="http://schemas.openxmlformats.org/officeDocument/2006/relationships/notesMaster" Target="/ppt/notesMasters/notesMaster1.xml" Id="Re230416ee82c44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0fd94161d84c30" /><Relationship Type="http://schemas.openxmlformats.org/officeDocument/2006/relationships/notesMaster" Target="/ppt/notesMasters/notesMaster1.xml" Id="R957be8b91a724a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8ee5fdf9314801" /><Relationship Type="http://schemas.openxmlformats.org/officeDocument/2006/relationships/notesMaster" Target="/ppt/notesMasters/notesMaster1.xml" Id="R9b89ed498b9041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84ff613e9f438f" /><Relationship Type="http://schemas.openxmlformats.org/officeDocument/2006/relationships/notesMaster" Target="/ppt/notesMasters/notesMaster1.xml" Id="R84286c05fa5a49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46db6c9e5742ff" /><Relationship Type="http://schemas.openxmlformats.org/officeDocument/2006/relationships/notesMaster" Target="/ppt/notesMasters/notesMaster1.xml" Id="R7e0ba4af35074e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72fe4d91904476" /><Relationship Type="http://schemas.openxmlformats.org/officeDocument/2006/relationships/notesMaster" Target="/ppt/notesMasters/notesMaster1.xml" Id="R6f66cdec619b4e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ca38b1d426426f" /><Relationship Type="http://schemas.openxmlformats.org/officeDocument/2006/relationships/notesMaster" Target="/ppt/notesMasters/notesMaster1.xml" Id="Rf577677bc4554d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611c36d0ca4570" /><Relationship Type="http://schemas.openxmlformats.org/officeDocument/2006/relationships/notesMaster" Target="/ppt/notesMasters/notesMaster1.xml" Id="Re7e2e5d935eb41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4bafac1e434f6a" /><Relationship Type="http://schemas.openxmlformats.org/officeDocument/2006/relationships/notesMaster" Target="/ppt/notesMasters/notesMaster1.xml" Id="Rdd6786c7cafb47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4f6f223686b4c7c" /><Relationship Type="http://schemas.openxmlformats.org/officeDocument/2006/relationships/notesMaster" Target="/ppt/notesMasters/notesMaster1.xml" Id="R28571283c6c941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4990a6ead14afd" /><Relationship Type="http://schemas.openxmlformats.org/officeDocument/2006/relationships/notesMaster" Target="/ppt/notesMasters/notesMaster1.xml" Id="R7f1cd393131b42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supervised model recognises known combinations; Isolation Forest contributes novel-behaviour detection.</a:t>
            </a:r>
          </a:p>
          <a:p xmlns:a="http://schemas.openxmlformats.org/drawingml/2006/main">
            <a:r>
              <a:t>The final score blends transparent rules with the trained ML result. OpenAI is an explanation layer only.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/Users/shivamshukla/Documents/HACKTHON/ml-service-python/scripts/train_model.py</a:t>
            </a:r>
          </a:p>
          <a:p xmlns:a="http://schemas.openxmlformats.org/drawingml/2006/main">
            <a:r>
              <a:t>- /Users/shivamshukla/Documents/HACKTHON/ml-service-python/app/ml_model.py</a:t>
            </a:r>
          </a:p>
          <a:p xmlns:a="http://schemas.openxmlformats.org/drawingml/2006/main">
            <a:r>
              <a:t>- /Users/shivamshukla/Documents/HACKTHON/ml-service-python/app/main.py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visual to explain the full false-positive reduction funnel.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ImageGen asset: /Users/shivamshukla/Documents/HACKTHON/presentation-assets/01-alert-noise-to-investigative-signal.png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scenario to show how legitimate context lowers priority without deleting the original alert.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ImageGen asset: /Users/shivamshukla/Documents/HACKTHON/presentation-assets/02-static-model-vs-surveillance-navigator.png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visual to reinforce that AI prioritises and explains while the investigator owns the outcome.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ImageGen asset: /Users/shivamshukla/Documents/HACKTHON/presentation-assets/03-ai-prioritises-humans-decide.png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3be3c021ad40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ba0975f82648d5" /><Relationship Type="http://schemas.openxmlformats.org/officeDocument/2006/relationships/slideLayout" Target="/ppt/slideLayouts/slideLayout1.xml" Id="R0b6b126a636d41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6b126a636d41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0c973e8824d07" /><Relationship Type="http://schemas.openxmlformats.org/officeDocument/2006/relationships/notesSlide" Target="/ppt/notesSlides/notesSlide1.xml" Id="R089cda46baa043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f1981f45746bf" /><Relationship Type="http://schemas.openxmlformats.org/officeDocument/2006/relationships/notesSlide" Target="/ppt/notesSlides/notesSlide2.xml" Id="R59c1317d3dcd42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8f15bec37437a" /><Relationship Type="http://schemas.openxmlformats.org/officeDocument/2006/relationships/notesSlide" Target="/ppt/notesSlides/notesSlide3.xml" Id="R67cdc83f04884d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2edef25614126" /><Relationship Type="http://schemas.openxmlformats.org/officeDocument/2006/relationships/notesSlide" Target="/ppt/notesSlides/notesSlide4.xml" Id="Radf7bbb8f26645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9e70d0b094836" /><Relationship Type="http://schemas.openxmlformats.org/officeDocument/2006/relationships/notesSlide" Target="/ppt/notesSlides/notesSlide5.xml" Id="R16f2e05cbca942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89e40a03e4f4c" /><Relationship Type="http://schemas.openxmlformats.org/officeDocument/2006/relationships/notesSlide" Target="/ppt/notesSlides/notesSlide6.xml" Id="R99fc3285e26f43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558e1aaf14129" /><Relationship Type="http://schemas.openxmlformats.org/officeDocument/2006/relationships/notesSlide" Target="/ppt/notesSlides/notesSlide7.xml" Id="R0475ce8b176548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cd2b2f46b4ff3" /><Relationship Type="http://schemas.openxmlformats.org/officeDocument/2006/relationships/notesSlide" Target="/ppt/notesSlides/notesSlide8.xml" Id="Rcfd70a5edda246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3f84f4fbd425f" /><Relationship Type="http://schemas.openxmlformats.org/officeDocument/2006/relationships/notesSlide" Target="/ppt/notesSlides/notesSlide9.xml" Id="R872e70f38b8f42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d04fce2b747c1" /><Relationship Type="http://schemas.openxmlformats.org/officeDocument/2006/relationships/notesSlide" Target="/ppt/notesSlides/notesSlide10.xml" Id="R2c26063c893c4d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cfdbbd0bf4115" /><Relationship Type="http://schemas.openxmlformats.org/officeDocument/2006/relationships/notesSlide" Target="/ppt/notesSlides/notesSlide11.xml" Id="R00da32b0d78048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aed31791b4061" /><Relationship Type="http://schemas.openxmlformats.org/officeDocument/2006/relationships/image" Target="/ppt/media/image.png" Id="Rcc8ae027f3764e01" /><Relationship Type="http://schemas.openxmlformats.org/officeDocument/2006/relationships/notesSlide" Target="/ppt/notesSlides/notesSlide12.xml" Id="R853e42ed6c8c46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99ad0f8bb4d0b" /><Relationship Type="http://schemas.openxmlformats.org/officeDocument/2006/relationships/image" Target="/ppt/media/image2.png" Id="R1adc9cecb3814b93" /><Relationship Type="http://schemas.openxmlformats.org/officeDocument/2006/relationships/notesSlide" Target="/ppt/notesSlides/notesSlide13.xml" Id="Ra58f654518d349f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68d03a7574e6c" /><Relationship Type="http://schemas.openxmlformats.org/officeDocument/2006/relationships/image" Target="/ppt/media/image3.png" Id="Rc1b2008cdae84913" /><Relationship Type="http://schemas.openxmlformats.org/officeDocument/2006/relationships/notesSlide" Target="/ppt/notesSlides/notesSlide14.xml" Id="Rbbc1397ffaac40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20A1D-3562-42B6-B6E7-04BEBAAB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AEGIS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8B24A-CBE7-4A67-B03E-5E6AD26D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7239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092D27"/>
                </a:solidFill>
              </a:defRPr>
            </a:pPr>
            <a:r>
              <a:rPr sz="4500" b="1">
                <a:solidFill>
                  <a:srgbClr val="092D27"/>
                </a:solidFill>
              </a:rPr>
              <a:t>Context-aware surveillance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092D27"/>
                </a:solidFill>
              </a:defRPr>
            </a:pPr>
            <a:r>
              <a:rPr sz="4500" b="1">
                <a:solidFill>
                  <a:srgbClr val="092D27"/>
                </a:solidFill>
              </a:rPr>
              <a:t>that investigators can defend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AA90F-C1AC-41F2-BE5B-E6580185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6756F"/>
                </a:solidFill>
              </a:defRPr>
            </a:pPr>
            <a:r>
              <a:rPr sz="1800" b="0">
                <a:solidFill>
                  <a:srgbClr val="66756F"/>
                </a:solidFill>
              </a:rPr>
              <a:t>Transform static alerts into explainable, evidence-backed investigation cases.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0FB94-0463-4BB5-A011-64EE2AE3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952500"/>
            <a:ext cx="2667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3B433-2805-4697-A4FE-56D1E972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811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AI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prioritises.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DF1DF-B4C1-495F-994E-AAEC3CB4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64D8B1"/>
                </a:solidFill>
              </a:defRPr>
            </a:pPr>
            <a:r>
              <a:rPr sz="2250" b="1">
                <a:solidFill>
                  <a:srgbClr val="64D8B1"/>
                </a:solidFill>
              </a:rPr>
              <a:t>Evidence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64D8B1"/>
                </a:solidFill>
              </a:defRPr>
            </a:pPr>
            <a:r>
              <a:rPr sz="2250" b="1">
                <a:solidFill>
                  <a:srgbClr val="64D8B1"/>
                </a:solidFill>
              </a:rPr>
              <a:t>explains.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F6F52-8305-4BAF-B288-81AE45E6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Human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decides.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D3D9F-DFAC-4B51-B086-57EC7168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56F"/>
                </a:solidFill>
              </a:defRPr>
            </a:pPr>
            <a:r>
              <a:rPr sz="975" b="0">
                <a:solidFill>
                  <a:srgbClr val="66756F"/>
                </a:solidFill>
              </a:rPr>
              <a:t>Hackathon prototype · Synthetic scenarios</a:t>
            </a:r>
          </a:p>
        </p:txBody>
      </p:sp>
    </p:spTree>
    <p:extLst>
      <p:ext uri="{BB962C8B-B14F-4D97-AF65-F5344CB8AC3E}">
        <p14:creationId xmlns:p14="http://schemas.microsoft.com/office/powerpoint/2010/main" val="2615821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213ED0-3FD1-4034-8FF1-F16B7020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5CB3A-BD1F-46FD-88FE-1DD1F62B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The current queue sees alerts; AEGIS sees the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72C5E-A5C6-481D-8D7A-E7210233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46984-B667-41FA-86D8-F3D0F9E1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6D571-1364-4889-BD2F-303B2F20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94E4E"/>
                </a:solidFill>
              </a:defRPr>
            </a:pPr>
            <a:r>
              <a:rPr sz="1200" b="1">
                <a:solidFill>
                  <a:srgbClr val="D94E4E"/>
                </a:solidFill>
              </a:rPr>
              <a:t>BEFORE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88357-64C0-434B-BE1F-6D6443C6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92D27"/>
                </a:solidFill>
              </a:defRPr>
            </a:pPr>
            <a:r>
              <a:rPr sz="3150" b="1">
                <a:solidFill>
                  <a:srgbClr val="092D27"/>
                </a:solidFill>
              </a:rPr>
              <a:t>31 isolated rule alerts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28EDE-3200-450C-A76B-B0FC6E2B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428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Repeated review of trades, accounts and context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with weak prioritisation and manual evidence gathering.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2A43D-79C9-4ADE-9A7E-437E1D91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62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E7A5F"/>
                </a:solidFill>
              </a:defRPr>
            </a:pPr>
            <a:r>
              <a:rPr sz="1200" b="1">
                <a:solidFill>
                  <a:srgbClr val="0E7A5F"/>
                </a:solidFill>
              </a:rPr>
              <a:t>AFTER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F60AA-BC3A-4576-9BB6-79587501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92D27"/>
                </a:solidFill>
              </a:defRPr>
            </a:pPr>
            <a:r>
              <a:rPr sz="3150" b="1">
                <a:solidFill>
                  <a:srgbClr val="092D27"/>
                </a:solidFill>
              </a:rPr>
              <a:t>1 prioritised 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17501-8765-4722-B2D5-02CFE53B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67 trades · 4 accounts · 1 common UBO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7 round trips · 2 venues · full evidence lineage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6AFF0-8E6E-4574-9538-E2A09A69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1057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63D806-3C51-4C9A-B2A4-3121AA96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92D27"/>
                </a:solidFill>
              </a:defRPr>
            </a:pPr>
            <a:r>
              <a:rPr sz="1800" b="1">
                <a:solidFill>
                  <a:srgbClr val="092D27"/>
                </a:solidFill>
              </a:rPr>
              <a:t>The product does not create more alerts. It compresses, contextualises and prioritises the alerts already generated.</a:t>
            </a:r>
          </a:p>
        </p:txBody>
      </p:sp>
    </p:spTree>
    <p:extLst>
      <p:ext uri="{BB962C8B-B14F-4D97-AF65-F5344CB8AC3E}">
        <p14:creationId xmlns:p14="http://schemas.microsoft.com/office/powerpoint/2010/main" val="17517299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D7892A-2ADE-4606-AD82-BCC013E3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DDD96-5029-487F-9F86-16A9260C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A controlled hybrid architecture keeps AI in the right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6BDF2-9906-4F49-B80F-82C9A131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3D882-D5E9-40DF-845F-8A87ACFB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493C2-A41B-4CA7-A1FF-CF77452E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57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23BE7-04F5-4873-85B9-8B3679DD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92D27"/>
                </a:solidFill>
              </a:defRPr>
            </a:pPr>
            <a:r>
              <a:rPr sz="1500" b="1">
                <a:solidFill>
                  <a:srgbClr val="092D27"/>
                </a:solidFill>
              </a:rPr>
              <a:t>DETERMINISTIC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F3E3A-BFB9-4CD7-90A7-8D0D3D6E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764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Timing · price · size · exposure · liquidity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FF32F-65A6-4900-9480-F336BD5D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1057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17A5F-5842-4128-BD76-ED34E67E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765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92D27"/>
                </a:solidFill>
              </a:defRPr>
            </a:pPr>
            <a:r>
              <a:rPr sz="1500" b="1">
                <a:solidFill>
                  <a:srgbClr val="092D27"/>
                </a:solidFill>
              </a:rPr>
              <a:t>ML / STATS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52FD2-F0B7-43C6-8A89-E16226C3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7652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EBM ranking · anomaly · peer deviation · clustering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EFEAF4-97F8-40F7-B222-42EABA06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1057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1D413-E7BC-45EE-9638-59E47B54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92D27"/>
                </a:solidFill>
              </a:defRPr>
            </a:pPr>
            <a:r>
              <a:rPr sz="1500" b="1">
                <a:solidFill>
                  <a:srgbClr val="092D27"/>
                </a:solidFill>
              </a:rPr>
              <a:t>GRAPH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DAE37-0988-4855-AA94-2266FC29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766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Common control · repeated edges · circular motifs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9B0E41-E776-40AB-B734-D7F819A7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1057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AA2F5-47E0-4E66-921F-72B6CF17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E7A5F"/>
                </a:solidFill>
              </a:defRPr>
            </a:pPr>
            <a:r>
              <a:rPr sz="1500" b="1">
                <a:solidFill>
                  <a:srgbClr val="0E7A5F"/>
                </a:solidFill>
              </a:rPr>
              <a:t>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A49E6-A614-435A-A584-A3AD8A44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767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Evidence synthesis · timeline · rationale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F0C7D-4DAF-4CB9-9E59-B9015DDF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D94E4E"/>
                </a:solidFill>
              </a:defRPr>
            </a:pPr>
            <a:r>
              <a:rPr sz="2025" b="1">
                <a:solidFill>
                  <a:srgbClr val="D94E4E"/>
                </a:solidFill>
              </a:rPr>
              <a:t>No evidence → no factual claim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C49917-695F-47B9-B8EA-FF3DFE51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102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2025" b="1">
                <a:solidFill>
                  <a:srgbClr val="D94E4E"/>
                </a:solidFill>
              </a:defRPr>
            </a:pPr>
            <a:r>
              <a:rPr sz="2025" b="1">
                <a:solidFill>
                  <a:srgbClr val="D94E4E"/>
                </a:solidFill>
              </a:rPr>
              <a:t>No autonomous disposition</a:t>
            </a:r>
          </a:p>
        </p:txBody>
      </p:sp>
    </p:spTree>
    <p:extLst>
      <p:ext uri="{BB962C8B-B14F-4D97-AF65-F5344CB8AC3E}">
        <p14:creationId xmlns:p14="http://schemas.microsoft.com/office/powerpoint/2010/main" val="18785889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B559DD-6AA7-4779-8256-4045FE69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F651A-F536-43C4-B38C-7D2F6190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The strongest MVP model is explainable by construction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6118D-F0D8-4468-8D80-EC2FF66A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DFDBA-88B2-4437-9B9E-7F89303A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B8379-1569-45A9-BCBF-C19EB8E0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CHAMPION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345F6-9506-4D4C-879D-FE6933FB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92D27"/>
                </a:solidFill>
              </a:defRPr>
            </a:pPr>
            <a:r>
              <a:rPr sz="3150" b="1">
                <a:solidFill>
                  <a:srgbClr val="092D27"/>
                </a:solidFill>
              </a:rPr>
              <a:t>Calibrated Explainable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092D27"/>
                </a:solidFill>
              </a:defRPr>
            </a:pPr>
            <a:r>
              <a:rPr sz="3150" b="1">
                <a:solidFill>
                  <a:srgbClr val="092D27"/>
                </a:solidFill>
              </a:rPr>
              <a:t>Boosting Machine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C82FE-8B89-448C-AB33-76CA92B3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Learns non-linear feature shapes and governed interactions while exposing each local contribution. Isotonic calibration converts ranking outputs into stable prioritisation bands.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B8949-DB56-4F55-9755-30F2A59D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FFA20-65EF-4878-A947-D0ACCCC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Isolation Forest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43A77-3649-4172-AE13-60A650E1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955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Behaviour anomaly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F1EEF-2C16-4A46-B22E-C2D4C592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19250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2916A3-76B9-40C8-877C-48F8CB0A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09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Min-cost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CEC2A-54C8-43E2-ACC8-C46566CB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955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Fragment matching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21C66-4533-4245-A5C6-B6437BDE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AA63C-A337-4375-AE93-4707F0C5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718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Probabilistic linkage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A901A-DAE9-4B2B-8F72-6C728E39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576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Entity resolution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5A30C9-8BAA-40E5-8BA0-468146DF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81375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0D36A-43CC-4223-B3C4-0757BBA1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718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Constrained clustering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3AC057-BCF4-448A-B259-3BEFE540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576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Case compression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1789E5-38C0-42BE-89E6-5F7DB462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D94E4E"/>
                </a:solidFill>
              </a:defRPr>
            </a:pPr>
            <a:r>
              <a:rPr sz="1950" b="1">
                <a:solidFill>
                  <a:srgbClr val="D94E4E"/>
                </a:solidFill>
              </a:rPr>
              <a:t>The score is priority—not the probability that abuse occurred.</a:t>
            </a:r>
          </a:p>
        </p:txBody>
      </p:sp>
    </p:spTree>
    <p:extLst>
      <p:ext uri="{BB962C8B-B14F-4D97-AF65-F5344CB8AC3E}">
        <p14:creationId xmlns:p14="http://schemas.microsoft.com/office/powerpoint/2010/main" val="11062293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A279E-CFBC-4B87-B529-02F3ECC5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0B72D-93FE-4538-9DB0-EEBD8103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Context can push the same rule pattern in opposite directions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376E7-0F9B-4259-A902-7B1AFE29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960BE-1B94-4664-9DA5-E7CC5C52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B1BF2-49B6-499E-9A8A-AD19862F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4E4E"/>
                </a:solidFill>
              </a:defRPr>
            </a:pPr>
            <a:r>
              <a:rPr sz="1125" b="1">
                <a:solidFill>
                  <a:srgbClr val="D94E4E"/>
                </a:solidFill>
              </a:rPr>
              <a:t>ILLQUID + LINKED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0407B-F489-44C1-BC8D-1E7DBBAC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D94E4E"/>
                </a:solidFill>
              </a:defRPr>
            </a:pPr>
            <a:r>
              <a:rPr sz="4800" b="1">
                <a:solidFill>
                  <a:srgbClr val="D94E4E"/>
                </a:solidFill>
              </a:rPr>
              <a:t>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2C7BE-694C-48FA-8D80-ECEBBF89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987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8 seconds · 99.8% size match · 7 cycles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Common UBO · 0.3% net exposure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6251F-4D4D-4335-98DE-0BBB132B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E7A5F"/>
                </a:solidFill>
              </a:defRPr>
            </a:pPr>
            <a:r>
              <a:rPr sz="1125" b="1">
                <a:solidFill>
                  <a:srgbClr val="0E7A5F"/>
                </a:solidFill>
              </a:rPr>
              <a:t>LIQUID + VOLATILE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4E2C6-B8E1-49D5-BB45-9998459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0E7A5F"/>
                </a:solidFill>
              </a:defRPr>
            </a:pPr>
            <a:r>
              <a:rPr sz="4800" b="1">
                <a:solidFill>
                  <a:srgbClr val="0E7A5F"/>
                </a:solidFill>
              </a:rPr>
              <a:t>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F92B0-B495-4FAD-AF5E-0AB8FE49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987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High-volume event · normal strategy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No resolved link · genuine position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5AAA2-FFBD-4837-BD59-7CE6CEF0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57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789E4-F2D9-49B2-BEE9-2BC52838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92D27"/>
                </a:solidFill>
              </a:defRPr>
            </a:pPr>
            <a:r>
              <a:rPr sz="2550" b="1">
                <a:solidFill>
                  <a:srgbClr val="092D27"/>
                </a:solidFill>
              </a:rPr>
              <a:t>RULE ALERT ≠ HIGH-RISK CASE</a:t>
            </a:r>
          </a:p>
        </p:txBody>
      </p:sp>
    </p:spTree>
    <p:extLst>
      <p:ext uri="{BB962C8B-B14F-4D97-AF65-F5344CB8AC3E}">
        <p14:creationId xmlns:p14="http://schemas.microsoft.com/office/powerpoint/2010/main" val="19982752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0CABE9-EAC1-4222-8CBC-793DEA86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9F93C-B1E7-448C-97CF-A4D2CB86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The score journey makes every intelligence gain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E2DCD-A2ED-43C8-8096-F980A1A8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68A17-1554-4F34-AF95-58DC8D91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D23BA-0831-4633-B97E-05E248E0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962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5A572-5C3F-40E9-9761-BB43782C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1C95A-AC06-4BAB-9DC0-7A08AA59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92D27"/>
                </a:solidFill>
              </a:defRPr>
            </a:pPr>
            <a:r>
              <a:rPr sz="2250" b="1">
                <a:solidFill>
                  <a:srgbClr val="092D27"/>
                </a:solidFill>
              </a:rPr>
              <a:t>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7CC06-A0E7-410E-AADE-4392A2CC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52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92D27"/>
                </a:solidFill>
              </a:defRPr>
            </a:pPr>
            <a:r>
              <a:rPr sz="1350" b="1">
                <a:solidFill>
                  <a:srgbClr val="092D27"/>
                </a:solidFill>
              </a:rPr>
              <a:t>Rule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CFAF1-62B7-4EF5-A4EA-40E439D7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76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66756F"/>
                </a:solidFill>
              </a:defRPr>
            </a:pPr>
            <a:r>
              <a:rPr sz="19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EEF4D-091F-4069-9FFC-F552482A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193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CD59E-BF97-437B-8467-5DC0DA8E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19400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92D27"/>
                </a:solidFill>
              </a:defRPr>
            </a:pPr>
            <a:r>
              <a:rPr sz="2250" b="1">
                <a:solidFill>
                  <a:srgbClr val="092D27"/>
                </a:solidFill>
              </a:rPr>
              <a:t>67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5C409-03D6-4275-9D71-278208C1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52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92D27"/>
                </a:solidFill>
              </a:defRPr>
            </a:pPr>
            <a:r>
              <a:rPr sz="1350" b="1">
                <a:solidFill>
                  <a:srgbClr val="092D27"/>
                </a:solidFill>
              </a:rPr>
              <a:t>Pattern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B1980-6A76-4757-9F99-79987C33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76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66756F"/>
                </a:solidFill>
              </a:defRPr>
            </a:pPr>
            <a:r>
              <a:rPr sz="19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BE5D9-9DFF-4A53-81B3-CA473D4C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193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84EA9-511A-4E9D-BC2C-26F105F7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19400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92D27"/>
                </a:solidFill>
              </a:defRPr>
            </a:pPr>
            <a:r>
              <a:rPr sz="2250" b="1">
                <a:solidFill>
                  <a:srgbClr val="092D27"/>
                </a:solidFill>
              </a:rPr>
              <a:t>71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B366F-73F0-4904-A613-F263ACA9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52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92D27"/>
                </a:solidFill>
              </a:defRPr>
            </a:pPr>
            <a:r>
              <a:rPr sz="1350" b="1">
                <a:solidFill>
                  <a:srgbClr val="092D27"/>
                </a:solidFill>
              </a:rPr>
              <a:t>Market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765F5F-0D28-454C-A2EC-1E7876BA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66756F"/>
                </a:solidFill>
              </a:defRPr>
            </a:pPr>
            <a:r>
              <a:rPr sz="19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BF2ED5-C13C-4485-B5C8-EB264FD4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193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9FE1D4-D81A-45EE-9BEE-A942EF0A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19400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92D27"/>
                </a:solidFill>
              </a:defRPr>
            </a:pPr>
            <a:r>
              <a:rPr sz="2250" b="1">
                <a:solidFill>
                  <a:srgbClr val="092D27"/>
                </a:solidFill>
              </a:rPr>
              <a:t>83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AF7A7F-F0F9-40A3-B2B7-C3041860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52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92D27"/>
                </a:solidFill>
              </a:defRPr>
            </a:pPr>
            <a:r>
              <a:rPr sz="1350" b="1">
                <a:solidFill>
                  <a:srgbClr val="092D27"/>
                </a:solidFill>
              </a:rPr>
              <a:t>Exposure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AA0AAA-CE5C-4B6D-B034-83F7EDC4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876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66756F"/>
                </a:solidFill>
              </a:defRPr>
            </a:pPr>
            <a:r>
              <a:rPr sz="19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D2907B-6331-4558-B5DA-F6FE837E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193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5F"/>
          </a:solidFill>
          <a:ln xmlns:a="http://schemas.openxmlformats.org/drawingml/2006/main" w="9525">
            <a:solidFill>
              <a:srgbClr val="0E7A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4C699-60C2-43F3-821B-FD148881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19400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94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FEC984-C201-4EA3-8FBC-A289301A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52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92D27"/>
                </a:solidFill>
              </a:defRPr>
            </a:pPr>
            <a:r>
              <a:rPr sz="1350" b="1">
                <a:solidFill>
                  <a:srgbClr val="092D27"/>
                </a:solidFill>
              </a:rPr>
              <a:t>Entity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2FA11A-E7F1-4074-9A4B-6F753237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66756F"/>
                </a:solidFill>
              </a:defRPr>
            </a:pPr>
            <a:r>
              <a:rPr sz="1725" b="0">
                <a:solidFill>
                  <a:srgbClr val="66756F"/>
                </a:solidFill>
              </a:rPr>
              <a:t>Every stage stores feature values, contributions, versions and evidence references.</a:t>
            </a:r>
          </a:p>
        </p:txBody>
      </p:sp>
    </p:spTree>
    <p:extLst>
      <p:ext uri="{BB962C8B-B14F-4D97-AF65-F5344CB8AC3E}">
        <p14:creationId xmlns:p14="http://schemas.microsoft.com/office/powerpoint/2010/main" val="7456476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C9CC4-DC21-48AA-96F5-0EA55428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AB85E-4FAE-4B30-8C17-82BDCD33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Every claim resolves to a metric and its source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C5FDC-F7B9-4602-A501-7C9E6249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447C8-85A9-4874-8A52-3DEA57EF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46060-F2D4-4C59-ADDC-3BE6672D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B54AA-3BCB-4652-9DAD-72B759DD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92D27"/>
                </a:solidFill>
              </a:defRPr>
            </a:pPr>
            <a:r>
              <a:rPr sz="2550" b="1">
                <a:solidFill>
                  <a:srgbClr val="092D27"/>
                </a:solidFill>
              </a:rPr>
              <a:t>Rapid position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092D27"/>
                </a:solidFill>
              </a:defRPr>
            </a:pPr>
            <a:r>
              <a:rPr sz="2550" b="1">
                <a:solidFill>
                  <a:srgbClr val="092D27"/>
                </a:solidFill>
              </a:rPr>
              <a:t>round trip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7CE71-BF2B-4B7F-BB49-41E011BE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098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66756F"/>
                </a:solidFill>
              </a:defRPr>
            </a:pPr>
            <a:r>
              <a:rPr sz="22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F3F22-C282-4DB6-AEBF-21F41E8C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METRIC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34733-B838-4142-904E-821B0BDE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8120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92D27"/>
                </a:solidFill>
              </a:defRPr>
            </a:pPr>
            <a:r>
              <a:rPr sz="2550" b="1">
                <a:solidFill>
                  <a:srgbClr val="092D27"/>
                </a:solidFill>
              </a:rPr>
              <a:t>Net exposure ratio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092D27"/>
                </a:solidFill>
              </a:defRPr>
            </a:pPr>
            <a:r>
              <a:rPr sz="2550" b="1">
                <a:solidFill>
                  <a:srgbClr val="092D27"/>
                </a:solidFill>
              </a:rPr>
              <a:t>= 0.30%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190F0-D63F-4D85-8A41-4BF8E50D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098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66756F"/>
                </a:solidFill>
              </a:defRPr>
            </a:pPr>
            <a:r>
              <a:rPr sz="22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329FA-E938-4F18-95AB-E9C67466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EDCA38-D4E9-4806-AA30-E36B8571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812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92D27"/>
                </a:solidFill>
              </a:defRPr>
            </a:pPr>
            <a:r>
              <a:rPr sz="2175" b="1">
                <a:solidFill>
                  <a:srgbClr val="092D27"/>
                </a:solidFill>
              </a:rPr>
              <a:t>[Trade:T183]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092D27"/>
                </a:solidFill>
              </a:defRPr>
            </a:pPr>
            <a:r>
              <a:rPr sz="2175" b="1">
                <a:solidFill>
                  <a:srgbClr val="092D27"/>
                </a:solidFill>
              </a:rPr>
              <a:t>[Position:P905]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E52E5-2C05-4D38-AD37-056D4E85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1057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E2828-0E1D-4BAA-B02F-DDE13270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92D27"/>
                </a:solidFill>
              </a:defRPr>
            </a:pPr>
            <a:r>
              <a:rPr sz="1875" b="0">
                <a:solidFill>
                  <a:srgbClr val="092D27"/>
                </a:solidFill>
              </a:rPr>
              <a:t>“Seven repeated opposing cycles between linked accounts generated high turnover while returning close to the opening position.”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14B8AC-6EA6-4D11-9A2E-37DAB38A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E7A5F"/>
                </a:solidFill>
              </a:defRPr>
            </a:pPr>
            <a:r>
              <a:rPr sz="1200" b="1">
                <a:solidFill>
                  <a:srgbClr val="0E7A5F"/>
                </a:solidFill>
              </a:rPr>
              <a:t>[Trade:T183] [Trade:T187] [Position:P901] [Position:P905] [Ownership:O29]</a:t>
            </a:r>
          </a:p>
        </p:txBody>
      </p:sp>
    </p:spTree>
    <p:extLst>
      <p:ext uri="{BB962C8B-B14F-4D97-AF65-F5344CB8AC3E}">
        <p14:creationId xmlns:p14="http://schemas.microsoft.com/office/powerpoint/2010/main" val="6368560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C6A658-546F-4FD8-BD44-ED7FF990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1E457-261C-407F-A392-EE698287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The prototype demonstrates four judge-ready moments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985C1-A052-4648-9241-90B6B4A4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61362-9D2D-45A5-B3F9-65DD6A01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13D77-A6F7-4E9D-85E2-B29BFB7D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E7A5F"/>
                </a:solidFill>
              </a:defRPr>
            </a:pPr>
            <a:r>
              <a:rPr sz="1800" b="1">
                <a:solidFill>
                  <a:srgbClr val="0E7A5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C20B5-1422-49C2-B433-AC956EC5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428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Obvious high 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88E1D-21EF-4C00-8E4A-08A6770C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875" b="1">
                <a:solidFill>
                  <a:srgbClr val="D94E4E"/>
                </a:solidFill>
              </a:defRPr>
            </a:pPr>
            <a:r>
              <a:rPr sz="1875" b="1">
                <a:solidFill>
                  <a:srgbClr val="D94E4E"/>
                </a:solidFill>
              </a:rPr>
              <a:t>94 HIGH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D935F-45BA-49EF-8E1B-FC53DBCD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EA2C9-A9D0-4455-A83C-133DB57C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E7A5F"/>
                </a:solidFill>
              </a:defRPr>
            </a:pPr>
            <a:r>
              <a:rPr sz="1800" b="1">
                <a:solidFill>
                  <a:srgbClr val="0E7A5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DB34C-DF21-48C0-87A2-DABE08C1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241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False-positive reduction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0FE50-EB9E-4A75-A6D8-0D7652BE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241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875" b="1">
                <a:solidFill>
                  <a:srgbClr val="0E7A5F"/>
                </a:solidFill>
              </a:defRPr>
            </a:pPr>
            <a:r>
              <a:rPr sz="1875" b="1">
                <a:solidFill>
                  <a:srgbClr val="0E7A5F"/>
                </a:solidFill>
              </a:rPr>
              <a:t>22 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71D5D-66CF-419C-8B9A-0E890948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146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99D52-01BF-4A4D-AA56-4C2F214D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E7A5F"/>
                </a:solidFill>
              </a:defRPr>
            </a:pPr>
            <a:r>
              <a:rPr sz="1800" b="1">
                <a:solidFill>
                  <a:srgbClr val="0E7A5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3C20B-84C8-4A3B-84D6-13DB1E68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19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AI connects the dots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1A6EC-ED76-47C7-99B0-67FF448D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875" b="1">
                <a:solidFill>
                  <a:srgbClr val="D94E4E"/>
                </a:solidFill>
              </a:defRPr>
            </a:pPr>
            <a:r>
              <a:rPr sz="1875" b="1">
                <a:solidFill>
                  <a:srgbClr val="D94E4E"/>
                </a:solidFill>
              </a:rPr>
              <a:t>46 → 87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9DB5FF-819C-46F2-8804-55F74F94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47166-146F-45BB-AD2D-E02992CA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E7A5F"/>
                </a:solidFill>
              </a:defRPr>
            </a:pPr>
            <a:r>
              <a:rPr sz="1800" b="1">
                <a:solidFill>
                  <a:srgbClr val="0E7A5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BB7FF6-3166-4EC4-9C56-38253F28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148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Coordinated 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2EF0B0-5CA7-4906-B29B-4700CF11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148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875" b="1">
                <a:solidFill>
                  <a:srgbClr val="D94E4E"/>
                </a:solidFill>
              </a:defRPr>
            </a:pPr>
            <a:r>
              <a:rPr sz="1875" b="1">
                <a:solidFill>
                  <a:srgbClr val="D94E4E"/>
                </a:solidFill>
              </a:rPr>
              <a:t>Weak trades → strong case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417827-242C-435C-A894-5A633823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054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112234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38DC33-9EBE-4EBC-973C-4A13800A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8EFE9-F3ED-4DBF-94DB-2C76AAB3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One month is enough when sophistication is sequenced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D6018-23B9-4630-93AA-B0D2AD03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CE1CA-7A24-4B4D-84A7-06B6E862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89448-8714-4D41-AE1F-459A3E78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WEEK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ABD1E-9989-4381-BCF5-6FE26131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2286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2131E-05C5-4A18-A414-B5F66AC7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Trade → alert → risk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A43E3-C91D-4ECF-93E2-83865C01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Matching · recurrence · exposure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DF1DD-6C8C-41F6-85BC-D3540B43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619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WEEK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009FF-346D-4B1D-81A1-D40286E2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047875"/>
            <a:ext cx="2286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B6C89-FAC8-42C2-9FB1-CF163BD4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3362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Alert → context → prioritised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953C2-0DE6-4C4E-A85C-249270CB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571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Market · baseline · entity · cluster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5FC14-748F-42E1-9ECF-4779C234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19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WEEK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EF0092-DEA5-4BFA-BAE0-614997D1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47875"/>
            <a:ext cx="2286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43DFB4-5101-4EA5-A99A-766588A8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3362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Case → evidence → investigator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A7490C-BF74-409C-A244-C31F16F1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71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Citations · confidence ·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459B0D-E0C1-48D6-9401-8D0B7B73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619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WEEK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4EB2A-A90E-41ED-81B2-89B760CF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47875"/>
            <a:ext cx="2286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A0948A-FAC2-43A3-9B2B-DA23657A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33362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Reliability, calibration and 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744445-5FC0-4FBB-8360-BCFEC8AA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571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QA · KPIs · rehearsal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16FAC4-AD5B-4647-85FF-4DB1EE36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92D27"/>
                </a:solidFill>
              </a:defRPr>
            </a:pPr>
            <a:r>
              <a:rPr sz="2100" b="1">
                <a:solidFill>
                  <a:srgbClr val="092D27"/>
                </a:solidFill>
              </a:rPr>
              <a:t>Stop chasing experimental graph ML. Win with a fully working, explainable flow.</a:t>
            </a:r>
          </a:p>
        </p:txBody>
      </p:sp>
    </p:spTree>
    <p:extLst>
      <p:ext uri="{BB962C8B-B14F-4D97-AF65-F5344CB8AC3E}">
        <p14:creationId xmlns:p14="http://schemas.microsoft.com/office/powerpoint/2010/main" val="17192763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7FAD3F-26F4-46C1-AF53-C2AC071A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4FEDB-6AA4-4EB8-ACEE-2193B371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Success is measured in evidence, priority and time saved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927FB-B447-4B1B-B9D6-5DCBAB54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7D60B-03F1-4858-BC44-6F0A2180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74D09-9D7A-4C92-BD45-ACFDBCB3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7F644-A587-4CC6-857B-1DCED728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92D27"/>
                </a:solidFill>
              </a:defRPr>
            </a:pPr>
            <a:r>
              <a:rPr sz="3450" b="1">
                <a:solidFill>
                  <a:srgbClr val="092D27"/>
                </a:solidFill>
              </a:rPr>
              <a:t>100%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F4651-AE10-4B08-B0D8-725CCBF0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2152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F"/>
                </a:solidFill>
              </a:defRPr>
            </a:pPr>
            <a:r>
              <a:rPr sz="1275" b="0">
                <a:solidFill>
                  <a:srgbClr val="66756F"/>
                </a:solidFill>
              </a:rPr>
              <a:t>citation 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808C8-CA21-4816-8EF0-3E6A2E64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571625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D9725-659A-4018-8883-95458626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76212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92D27"/>
                </a:solidFill>
              </a:defRPr>
            </a:pPr>
            <a:r>
              <a:rPr sz="3450" b="1">
                <a:solidFill>
                  <a:srgbClr val="092D27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99575-6A33-48DD-880B-9586BFF7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466975"/>
            <a:ext cx="2152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F"/>
                </a:solidFill>
              </a:defRPr>
            </a:pPr>
            <a:r>
              <a:rPr sz="1275" b="0">
                <a:solidFill>
                  <a:srgbClr val="66756F"/>
                </a:solidFill>
              </a:rPr>
              <a:t>unsupported claims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69EB4-5152-4CDD-A624-410E45AE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71625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D7C7F-AADB-4D9B-8B36-6A2F8CAF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6212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92D27"/>
                </a:solidFill>
              </a:defRPr>
            </a:pPr>
            <a:r>
              <a:rPr sz="3450" b="1">
                <a:solidFill>
                  <a:srgbClr val="092D27"/>
                </a:solidFill>
              </a:rPr>
              <a:t>67%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15812-99F5-4BC0-ADCB-AA6F1D32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66975"/>
            <a:ext cx="2152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F"/>
                </a:solidFill>
              </a:defRPr>
            </a:pPr>
            <a:r>
              <a:rPr sz="1275" b="0">
                <a:solidFill>
                  <a:srgbClr val="66756F"/>
                </a:solidFill>
              </a:rPr>
              <a:t>synthetic case compression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3E9B8-703A-4306-8796-F5062AF1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571625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80506-BCD0-4A87-BE76-79651DF4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6212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92D27"/>
                </a:solidFill>
              </a:defRPr>
            </a:pPr>
            <a:r>
              <a:rPr sz="3450" b="1">
                <a:solidFill>
                  <a:srgbClr val="092D27"/>
                </a:solidFill>
              </a:rPr>
              <a:t>4 /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D6A4B6-9925-4D3F-A124-CEBBC6C6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466975"/>
            <a:ext cx="2152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F"/>
                </a:solidFill>
              </a:defRPr>
            </a:pPr>
            <a:r>
              <a:rPr sz="1275" b="0">
                <a:solidFill>
                  <a:srgbClr val="66756F"/>
                </a:solidFill>
              </a:rPr>
              <a:t>golden scenarios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E9934-880E-443B-9726-1C48436B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1057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736A62-2C70-4D45-A5CB-3896DE2A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D8B1"/>
                </a:solidFill>
              </a:defRPr>
            </a:pPr>
            <a:r>
              <a:rPr sz="1125" b="1">
                <a:solidFill>
                  <a:srgbClr val="64D8B1"/>
                </a:solidFill>
              </a:rPr>
              <a:t>Decision requested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4A6332-AB4D-4B4C-B332-39CB6C2E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Approve a four-week MVP focused on evidence-backed case prioritisation.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6287FE-73A3-40B8-ACF7-256A265E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E7A5F"/>
                </a:solidFill>
              </a:defRPr>
            </a:pPr>
            <a:r>
              <a:rPr sz="1875" b="1">
                <a:solidFill>
                  <a:srgbClr val="0E7A5F"/>
                </a:solidFill>
              </a:rPr>
              <a:t>AI prioritises. Evidence explains. Human decides.</a:t>
            </a:r>
          </a:p>
        </p:txBody>
      </p:sp>
    </p:spTree>
    <p:extLst>
      <p:ext uri="{BB962C8B-B14F-4D97-AF65-F5344CB8AC3E}">
        <p14:creationId xmlns:p14="http://schemas.microsoft.com/office/powerpoint/2010/main" val="16352439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B559DD-6AA7-4779-8256-4045FE69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F651A-F536-43C4-B38C-7D2F6190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Hybrid ML detects known patterns and novel anomalies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6118D-F0D8-4468-8D80-EC2FF66A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DFDBA-88B2-4437-9B9E-7F89303A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B8379-1569-45A9-BCBF-C19EB8E0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SUPERVISED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345F6-9506-4D4C-879D-FE6933FB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92D27"/>
                </a:solidFill>
              </a:defRPr>
            </a:pPr>
            <a:r>
              <a:rPr sz="3150" b="1">
                <a:solidFill>
                  <a:srgbClr val="092D27"/>
                </a:solidFill>
              </a:rPr>
              <a:t>Calibrated Histogram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092D27"/>
                </a:solidFill>
              </a:defRPr>
            </a:pPr>
            <a:r>
              <a:rPr sz="3150" b="1">
                <a:solidFill>
                  <a:srgbClr val="092D27"/>
                </a:solidFill>
              </a:rPr>
              <a:t>Gradient Boosting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C82FE-8B89-448C-AB33-76CA92B3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Learns non-linear combinations of timing, quantity, recurrence, exposure and ownership signals. Sigmoid calibration makes its probabilities more reliable for prioritisation.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B8949-DB56-4F55-9755-30F2A59D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FFA20-65EF-4878-A947-D0ACCCC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Isolation Forest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43A77-3649-4172-AE13-60A650E1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955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Flags behavioural outliers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F1EEF-2C16-4A46-B22E-C2D4C592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19250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2916A3-76B9-40C8-877C-48F8CB0A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09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Sigmoid calibration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CEC2A-54C8-43E2-ACC8-C46566CB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955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Stabilises probability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21C66-4533-4245-A5C6-B6437BDE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AA63C-A337-4375-AE93-4707F0C5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718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Transparent rules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A901A-DAE9-4B2B-8F72-6C728E39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576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Shows risk drivers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5A30C9-8BAA-40E5-8BA0-468146DF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81375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0D36A-43CC-4223-B3C4-0757BBA1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718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Weighted fusion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3AC057-BCF4-448A-B259-3BEFE540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576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45% rules · 55% 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1789E5-38C0-42BE-89E6-5F7DB462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D94E4E"/>
                </a:solidFill>
              </a:defRPr>
            </a:pPr>
            <a:r>
              <a:rPr sz="1950" b="1">
                <a:solidFill>
                  <a:srgbClr val="D94E4E"/>
                </a:solidFill>
              </a:rPr>
              <a:t>Graph context enriches features. OpenAI explains cited evidence. Human review remains mandatory.</a:t>
            </a:r>
          </a:p>
        </p:txBody>
      </p:sp>
    </p:spTree>
    <p:extLst>
      <p:ext uri="{BB962C8B-B14F-4D97-AF65-F5344CB8AC3E}">
        <p14:creationId xmlns:p14="http://schemas.microsoft.com/office/powerpoint/2010/main" val="11062293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ae027f3764e0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752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c9cecb3814b9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752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2008cdae8491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752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2026-09-02T16:00:57.9900000Z</dcterms:created>
  <dcterms:modified xsi:type="dcterms:W3CDTF">2026-09-02T16:00:57.9900000Z</dcterms:modified>
</coreProperties>
</file>