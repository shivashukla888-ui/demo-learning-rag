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2980caf064d04" /><Relationship Type="http://schemas.openxmlformats.org/officeDocument/2006/relationships/extended-properties" Target="/docProps/app.xml" Id="Ra922badc26b54900" /><Relationship Type="http://schemas.openxmlformats.org/officeDocument/2006/relationships/officeDocument" Target="/ppt/presentation.xml" Id="R41193ac1ada84a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53ad67eb4405d"/>
  </p:sldMasterIdLst>
  <p:notesMasterIdLst>
    <p:notesMasterId xmlns:r="http://schemas.openxmlformats.org/officeDocument/2006/relationships" r:id="Rb7b7cab7477448b4"/>
  </p:notesMasterIdLst>
  <p:sldIdLst>
    <p:sldId xmlns:r="http://schemas.openxmlformats.org/officeDocument/2006/relationships" id="256" r:id="R17231e382dd047e5"/>
    <p:sldId xmlns:r="http://schemas.openxmlformats.org/officeDocument/2006/relationships" id="257" r:id="R87544a6a51984d8b"/>
    <p:sldId xmlns:r="http://schemas.openxmlformats.org/officeDocument/2006/relationships" id="258" r:id="R465e3b8b37c24090"/>
    <p:sldId xmlns:r="http://schemas.openxmlformats.org/officeDocument/2006/relationships" id="259" r:id="Rfb34b9f96aad45b9"/>
    <p:sldId xmlns:r="http://schemas.openxmlformats.org/officeDocument/2006/relationships" id="260" r:id="R4ed4cc1950274e38"/>
    <p:sldId xmlns:r="http://schemas.openxmlformats.org/officeDocument/2006/relationships" id="261" r:id="R07bada74380049cd"/>
    <p:sldId xmlns:r="http://schemas.openxmlformats.org/officeDocument/2006/relationships" id="262" r:id="R94d326f6b9a24021"/>
    <p:sldId xmlns:r="http://schemas.openxmlformats.org/officeDocument/2006/relationships" id="263" r:id="R1d72c7b37b294bc7"/>
    <p:sldId xmlns:r="http://schemas.openxmlformats.org/officeDocument/2006/relationships" id="264" r:id="Rcc41af2af69f4823"/>
    <p:sldId xmlns:r="http://schemas.openxmlformats.org/officeDocument/2006/relationships" id="265" r:id="R9b712e3c6f564e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7da2dff9a74e21" /><Relationship Type="http://schemas.openxmlformats.org/officeDocument/2006/relationships/slideMaster" Target="/ppt/slideMasters/slideMaster1.xml" Id="R40553ad67eb4405d" /><Relationship Type="http://schemas.openxmlformats.org/officeDocument/2006/relationships/notesMaster" Target="/ppt/notesMasters/notesMaster1.xml" Id="Rb7b7cab7477448b4" /><Relationship Type="http://schemas.openxmlformats.org/officeDocument/2006/relationships/presProps" Target="/ppt/presProps.xml" Id="R64e28f75f24b4c85" /><Relationship Type="http://schemas.openxmlformats.org/officeDocument/2006/relationships/tableStyles" Target="/ppt/tableStyles.xml" Id="Rc5964cbe3c9d48ce" /><Relationship Type="http://schemas.openxmlformats.org/officeDocument/2006/relationships/slide" Target="/ppt/slides/slide1.xml" Id="R17231e382dd047e5" /><Relationship Type="http://schemas.openxmlformats.org/officeDocument/2006/relationships/slide" Target="/ppt/slides/slide2.xml" Id="R87544a6a51984d8b" /><Relationship Type="http://schemas.openxmlformats.org/officeDocument/2006/relationships/slide" Target="/ppt/slides/slide3.xml" Id="R465e3b8b37c24090" /><Relationship Type="http://schemas.openxmlformats.org/officeDocument/2006/relationships/slide" Target="/ppt/slides/slide4.xml" Id="Rfb34b9f96aad45b9" /><Relationship Type="http://schemas.openxmlformats.org/officeDocument/2006/relationships/slide" Target="/ppt/slides/slide5.xml" Id="R4ed4cc1950274e38" /><Relationship Type="http://schemas.openxmlformats.org/officeDocument/2006/relationships/slide" Target="/ppt/slides/slide6.xml" Id="R07bada74380049cd" /><Relationship Type="http://schemas.openxmlformats.org/officeDocument/2006/relationships/slide" Target="/ppt/slides/slide7.xml" Id="R94d326f6b9a24021" /><Relationship Type="http://schemas.openxmlformats.org/officeDocument/2006/relationships/slide" Target="/ppt/slides/slide8.xml" Id="R1d72c7b37b294bc7" /><Relationship Type="http://schemas.openxmlformats.org/officeDocument/2006/relationships/slide" Target="/ppt/slides/slide9.xml" Id="Rcc41af2af69f4823" /><Relationship Type="http://schemas.openxmlformats.org/officeDocument/2006/relationships/slide" Target="/ppt/slides/slide10.xml" Id="R9b712e3c6f56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4069d689d048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c7ec162314159" /><Relationship Type="http://schemas.openxmlformats.org/officeDocument/2006/relationships/notesMaster" Target="/ppt/notesMasters/notesMaster1.xml" Id="R9b3eb1cd281348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a62e73ce4e478e" /><Relationship Type="http://schemas.openxmlformats.org/officeDocument/2006/relationships/notesMaster" Target="/ppt/notesMasters/notesMaster1.xml" Id="Rddfdb12e30e14a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9e87d38edd4ceb" /><Relationship Type="http://schemas.openxmlformats.org/officeDocument/2006/relationships/notesMaster" Target="/ppt/notesMasters/notesMaster1.xml" Id="R83e9fc67e3f249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4f3c9b5bd463c" /><Relationship Type="http://schemas.openxmlformats.org/officeDocument/2006/relationships/notesMaster" Target="/ppt/notesMasters/notesMaster1.xml" Id="R93b8b4d74f9748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9568669ba348dc" /><Relationship Type="http://schemas.openxmlformats.org/officeDocument/2006/relationships/notesMaster" Target="/ppt/notesMasters/notesMaster1.xml" Id="R9a2a295ed86b43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cfffe248544766" /><Relationship Type="http://schemas.openxmlformats.org/officeDocument/2006/relationships/notesMaster" Target="/ppt/notesMasters/notesMaster1.xml" Id="R2f108295e13440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07cdac63e3466d" /><Relationship Type="http://schemas.openxmlformats.org/officeDocument/2006/relationships/notesMaster" Target="/ppt/notesMasters/notesMaster1.xml" Id="Rbe88dfc01ccf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dcd531bd44e08" /><Relationship Type="http://schemas.openxmlformats.org/officeDocument/2006/relationships/notesMaster" Target="/ppt/notesMasters/notesMaster1.xml" Id="Rc9eb1dbd945d49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555bcc3c884709" /><Relationship Type="http://schemas.openxmlformats.org/officeDocument/2006/relationships/notesMaster" Target="/ppt/notesMasters/notesMaster1.xml" Id="R736f638ca0b2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0063e808aa4ec8" /><Relationship Type="http://schemas.openxmlformats.org/officeDocument/2006/relationships/notesMaster" Target="/ppt/notesMasters/notesMaster1.xml" Id="R9a4948e3ec8544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8123c1bda4a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3eca2e1e204a61" /><Relationship Type="http://schemas.openxmlformats.org/officeDocument/2006/relationships/slideLayout" Target="/ppt/slideLayouts/slideLayout1.xml" Id="R8833afafe0a1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33afafe0a1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f3a61553b4e2c" /><Relationship Type="http://schemas.openxmlformats.org/officeDocument/2006/relationships/notesSlide" Target="/ppt/notesSlides/notesSlide1.xml" Id="R9b8effa6148e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ca1a49d9d4f67" /><Relationship Type="http://schemas.openxmlformats.org/officeDocument/2006/relationships/notesSlide" Target="/ppt/notesSlides/notesSlide2.xml" Id="R20af9783f9a743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f1bc055f4d67" /><Relationship Type="http://schemas.openxmlformats.org/officeDocument/2006/relationships/notesSlide" Target="/ppt/notesSlides/notesSlide3.xml" Id="Rcf73ac1a1add4f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41d4b7daa447f" /><Relationship Type="http://schemas.openxmlformats.org/officeDocument/2006/relationships/notesSlide" Target="/ppt/notesSlides/notesSlide4.xml" Id="R0ba564648ca546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411a85ad444a5" /><Relationship Type="http://schemas.openxmlformats.org/officeDocument/2006/relationships/notesSlide" Target="/ppt/notesSlides/notesSlide5.xml" Id="R24e69fdad95c47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8194d52504144" /><Relationship Type="http://schemas.openxmlformats.org/officeDocument/2006/relationships/notesSlide" Target="/ppt/notesSlides/notesSlide6.xml" Id="Rec55af1ca047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40c191d8d4cdb" /><Relationship Type="http://schemas.openxmlformats.org/officeDocument/2006/relationships/notesSlide" Target="/ppt/notesSlides/notesSlide7.xml" Id="Rfc29ce66db654e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3091895b74872" /><Relationship Type="http://schemas.openxmlformats.org/officeDocument/2006/relationships/notesSlide" Target="/ppt/notesSlides/notesSlide8.xml" Id="Re5064b0a8f904b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ee218626d414d" /><Relationship Type="http://schemas.openxmlformats.org/officeDocument/2006/relationships/notesSlide" Target="/ppt/notesSlides/notesSlide9.xml" Id="R1ccd15983ff24b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6f9235c8740bd" /><Relationship Type="http://schemas.openxmlformats.org/officeDocument/2006/relationships/notesSlide" Target="/ppt/notesSlides/notesSlide10.xml" Id="R8410c826c5f2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20A1D-3562-42B6-B6E7-04BEBAA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AEGIS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B24A-CBE7-4A67-B03E-5E6AD26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92D27"/>
                </a:solidFill>
              </a:defRPr>
            </a:pPr>
            <a:r>
              <a:rPr sz="4500" b="1">
                <a:solidFill>
                  <a:srgbClr val="092D27"/>
                </a:solidFill>
              </a:rPr>
              <a:t>Context-aware surveillance</a:t>
            </a:r>
          </a:p>
          <a:p xmlns:a="http://schemas.openxmlformats.org/drawingml/2006/main">
            <a:pPr algn="l">
              <a:defRPr sz="4500" b="1">
                <a:solidFill>
                  <a:srgbClr val="092D27"/>
                </a:solidFill>
              </a:defRPr>
            </a:pPr>
            <a:r>
              <a:rPr sz="4500" b="1">
                <a:solidFill>
                  <a:srgbClr val="092D27"/>
                </a:solidFill>
              </a:rPr>
              <a:t>that investigators can defend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A90F-C1AC-41F2-BE5B-E658018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56F"/>
                </a:solidFill>
              </a:defRPr>
            </a:pPr>
            <a:r>
              <a:rPr sz="1800" b="0">
                <a:solidFill>
                  <a:srgbClr val="66756F"/>
                </a:solidFill>
              </a:rPr>
              <a:t>Transform static alerts into explainable, evidence-backed investigation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0FB94-0463-4BB5-A011-64EE2AE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52500"/>
            <a:ext cx="2667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B433-2805-4697-A4FE-56D1E97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prioritises.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DF1DF-B4C1-495F-994E-AAEC3CB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D8B1"/>
                </a:solidFill>
              </a:defRPr>
            </a:pPr>
            <a:r>
              <a:rPr sz="2250" b="1">
                <a:solidFill>
                  <a:srgbClr val="64D8B1"/>
                </a:solidFill>
              </a:rPr>
              <a:t>Evidence</a:t>
            </a:r>
          </a:p>
          <a:p xmlns:a="http://schemas.openxmlformats.org/drawingml/2006/main">
            <a:pPr algn="l">
              <a:defRPr sz="2250" b="1">
                <a:solidFill>
                  <a:srgbClr val="64D8B1"/>
                </a:solidFill>
              </a:defRPr>
            </a:pPr>
            <a:r>
              <a:rPr sz="2250" b="1">
                <a:solidFill>
                  <a:srgbClr val="64D8B1"/>
                </a:solidFill>
              </a:rPr>
              <a:t>explains.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F6F52-8305-4BAF-B288-81AE45E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Human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decides.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D3D9F-DFAC-4B51-B086-57EC7168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56F"/>
                </a:solidFill>
              </a:defRPr>
            </a:pPr>
            <a:r>
              <a:rPr sz="975" b="0">
                <a:solidFill>
                  <a:srgbClr val="66756F"/>
                </a:solidFill>
              </a:rPr>
              <a:t>Hackathon prototype · Synthetic scenarios</a:t>
            </a:r>
          </a:p>
        </p:txBody>
      </p:sp>
    </p:spTree>
    <p:extLst>
      <p:ext uri="{BB962C8B-B14F-4D97-AF65-F5344CB8AC3E}">
        <p14:creationId xmlns:p14="http://schemas.microsoft.com/office/powerpoint/2010/main" val="2615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13ED0-3FD1-4034-8FF1-F16B702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5CB3A-BD1F-46FD-88FE-1DD1F62B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current queue sees alerts; AEGIS sees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2C5E-A5C6-481D-8D7A-E721023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6984-B667-41FA-86D8-F3D0F9E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6D571-1364-4889-BD2F-303B2F2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E4E"/>
                </a:solidFill>
              </a:defRPr>
            </a:pPr>
            <a:r>
              <a:rPr sz="1200" b="1">
                <a:solidFill>
                  <a:srgbClr val="D94E4E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8357-64C0-434B-BE1F-6D6443C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31 isolated rule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28EDE-3200-450C-A76B-B0FC6E2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Repeated review of trades, accounts and context</a:t>
            </a:r>
          </a:p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with weak prioritisation and manual evidence gathering.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A43D-79C9-4ADE-9A7E-437E1D9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60AA-BC3A-4576-9BB6-7958750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1 prioritised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17501-8765-4722-B2D5-02CFE53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67 trades · 4 accounts · 1 common UBO</a:t>
            </a:r>
          </a:p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7 round trips · 2 venues · full evidence lineage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FF0-8E6E-4574-9538-E2A09A6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3D806-3C51-4C9A-B2A4-3121AA9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D27"/>
                </a:solidFill>
              </a:defRPr>
            </a:pPr>
            <a:r>
              <a:rPr sz="1800" b="1">
                <a:solidFill>
                  <a:srgbClr val="092D27"/>
                </a:solidFill>
              </a:rPr>
              <a:t>The product does not create more alerts. It compresses, contextualises and prioritises the alerts already generated.</a:t>
            </a:r>
          </a:p>
        </p:txBody>
      </p:sp>
    </p:spTree>
    <p:extLst>
      <p:ext uri="{BB962C8B-B14F-4D97-AF65-F5344CB8AC3E}">
        <p14:creationId xmlns:p14="http://schemas.microsoft.com/office/powerpoint/2010/main" val="1751729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7892A-2ADE-4606-AD82-BCC013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DD96-5029-487F-9F86-16A926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A controlled hybrid architecture keeps AI in the right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BDF2-9906-4F49-B80F-82C9A13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D882-D5E9-40DF-845F-8A87ACFB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93C2-A41B-4CA7-A1FF-CF77452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3BE7-04F5-4873-85B9-8B3679D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3E3A-BFB9-4CD7-90A7-8D0D3D6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Timing · price · size · exposure · liquidity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FF32F-65A6-4900-9480-F336BD5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17A5F-5842-4128-BD76-ED34E67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ML /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52FD2-F0B7-43C6-8A89-E16226C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6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EBM ranking · anomaly · peer deviation · clustering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FEAF4-97F8-40F7-B222-42EABA0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D413-E7BC-45EE-9638-59E47B5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AE37-0988-4855-AA94-2266FC2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control · repeated edges · circular motifs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B0E41-E776-40AB-B734-D7F819A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AA2F5-47E0-4E66-921F-72B6CF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A5F"/>
                </a:solidFill>
              </a:defRPr>
            </a:pPr>
            <a:r>
              <a:rPr sz="1500" b="1">
                <a:solidFill>
                  <a:srgbClr val="0E7A5F"/>
                </a:solidFill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49E6-A614-435A-A584-A3AD8A4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Evidence synthesis · timeline ·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F0C7D-4DAF-4CB9-9E59-B9015DD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evidence → no factual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49917-695F-47B9-B8EA-FF3DFE5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autonomous disposition</a:t>
            </a:r>
          </a:p>
        </p:txBody>
      </p:sp>
    </p:spTree>
    <p:extLst>
      <p:ext uri="{BB962C8B-B14F-4D97-AF65-F5344CB8AC3E}">
        <p14:creationId xmlns:p14="http://schemas.microsoft.com/office/powerpoint/2010/main" val="1878588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strongest MVP model is explainable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CHAMPION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Explainable</a:t>
            </a:r>
          </a:p>
          <a:p xmlns:a="http://schemas.openxmlformats.org/drawingml/2006/main">
            <a:pPr algn="l"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Boosting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feature shapes and governed interactions while exposing each local contribution. Isotonic calibration converts ranking outputs into stable prioritisation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Behaviour anomaly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Min-cost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Fragment matching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Probabilistic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Entity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Constrained clustering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Case compression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The score is priority—not the probability that abuse occurred.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A279E-CFBC-4B87-B529-02F3ECC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0B72D-93FE-4538-9DB0-EEBD810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Context can push the same rule pattern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76E7-0F9B-4259-A902-7B1AFE2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60BE-1B94-4664-9DA5-E7CC5C5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1BF2-49B6-499E-9A8A-AD19862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E4E"/>
                </a:solidFill>
              </a:defRPr>
            </a:pPr>
            <a:r>
              <a:rPr sz="1125" b="1">
                <a:solidFill>
                  <a:srgbClr val="D94E4E"/>
                </a:solidFill>
              </a:rPr>
              <a:t>ILLQUID + LINKED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407B-F489-44C1-BC8D-1E7DBBA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D94E4E"/>
                </a:solidFill>
              </a:defRPr>
            </a:pPr>
            <a:r>
              <a:rPr sz="4800" b="1">
                <a:solidFill>
                  <a:srgbClr val="D94E4E"/>
                </a:solidFill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C7BE-694C-48FA-8D80-ECEBBF8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8 seconds · 99.8% size match · 7 cycles</a:t>
            </a:r>
          </a:p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UBO · 0.3% net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251F-4D4D-4335-98DE-0BBB132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5F"/>
                </a:solidFill>
              </a:defRPr>
            </a:pPr>
            <a:r>
              <a:rPr sz="1125" b="1">
                <a:solidFill>
                  <a:srgbClr val="0E7A5F"/>
                </a:solidFill>
              </a:rPr>
              <a:t>LIQUID + VOLATILE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E2C6-B8E1-49D5-BB45-9998459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7A5F"/>
                </a:solidFill>
              </a:defRPr>
            </a:pPr>
            <a:r>
              <a:rPr sz="4800" b="1">
                <a:solidFill>
                  <a:srgbClr val="0E7A5F"/>
                </a:solidFill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92B0-B495-4FAD-AF5E-0AB8FE4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High-volume event · normal strategy</a:t>
            </a:r>
          </a:p>
          <a:p xmlns:a="http://schemas.openxmlformats.org/drawingml/2006/main">
            <a:pPr algn="l"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No resolved link · genuine position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5AAA2-FFBD-4837-BD59-7CE6CEF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89E4-F2D9-49B2-BEE9-2BC5283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RULE ALERT ≠ HIGH-RISK CASE</a:t>
            </a:r>
          </a:p>
        </p:txBody>
      </p:sp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CABE9-EAC1-4222-8CBC-793DEA8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9F93C-B1E7-448C-97CF-A4D2CB8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score journey makes every intelligence gain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E2DCD-A2ED-43C8-8096-F980A1A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68A17-1554-4F34-AF95-58DC8D9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D23BA-0831-4633-B97E-05E248E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A572-5C3F-40E9-9761-BB43782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C95A-AC06-4BAB-9DC0-7A08AA5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CC06-A0E7-410E-AADE-4392A2C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FAF1-62B7-4EF5-A4EA-40E439D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EEF4D-091F-4069-9FFC-F55248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D59E-BF97-437B-8467-5DC0DA8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C409-03D6-4275-9D71-278208C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1980-6A76-4757-9F99-79987C3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BE5D9-9DFF-4A53-81B3-CA473D4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4EA9-511A-4E9D-BC2C-26F105F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B366F-73F0-4904-A613-F263ACA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65F5F-0D28-454C-A2EC-1E7876B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F2ED5-C13C-4485-B5C8-EB264FD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FE1D4-D81A-45EE-9BEE-A942EF0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83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F7A7F-F0F9-40A3-B2B7-C304186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A0AAA-CE5C-4B6D-B034-83F7EDC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2907B-6331-4558-B5DA-F6FE837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F"/>
          </a:solidFill>
          <a:ln xmlns:a="http://schemas.openxmlformats.org/drawingml/2006/main" w="9525">
            <a:solidFill>
              <a:srgbClr val="0E7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4C699-60C2-43F3-821B-FD14888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EC984-C201-4EA3-8FBC-A289301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FA11A-E7F1-4074-9A4B-6F75323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756F"/>
                </a:solidFill>
              </a:defRPr>
            </a:pPr>
            <a:r>
              <a:rPr sz="1725" b="0">
                <a:solidFill>
                  <a:srgbClr val="66756F"/>
                </a:solidFill>
              </a:rPr>
              <a:t>Every stage stores feature values, contributions, versions and evidence references.</a:t>
            </a:r>
          </a:p>
        </p:txBody>
      </p:sp>
    </p:spTree>
    <p:extLst>
      <p:ext uri="{BB962C8B-B14F-4D97-AF65-F5344CB8AC3E}">
        <p14:creationId xmlns:p14="http://schemas.microsoft.com/office/powerpoint/2010/main" val="745647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9CC4-DC21-48AA-96F5-0EA5542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B85E-4FAE-4B30-8C17-82BDCD3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Every claim resolves to a metric and its source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5FDC-F7B9-4602-A501-7C9E624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47C8-85A9-4874-8A52-3DEA57E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6060-F2D4-4C59-ADDC-3BE6672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B54AA-3BCB-4652-9DAD-72B759D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Rapid position</a:t>
            </a:r>
          </a:p>
          <a:p xmlns:a="http://schemas.openxmlformats.org/drawingml/2006/main">
            <a:pPr algn="l"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round 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CE71-BF2B-4B7F-BB49-41E011B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3F22-C282-4DB6-AEBF-21F41E8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34733-B838-4142-904E-821B0BD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Net exposure ratio</a:t>
            </a:r>
          </a:p>
          <a:p xmlns:a="http://schemas.openxmlformats.org/drawingml/2006/main">
            <a:pPr algn="l"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= 0.30%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190F0-D63F-4D85-8A41-4BF8E50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29FA-E938-4F18-95AB-E9C6746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DCA38-D4E9-4806-AA30-E36B857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[Trade:T183]</a:t>
            </a:r>
          </a:p>
          <a:p xmlns:a="http://schemas.openxmlformats.org/drawingml/2006/main">
            <a:pPr algn="l"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[Position:P905]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52E5-2C05-4D38-AD37-056D4E8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2828-0E1D-4BAA-B02F-DDE1327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92D27"/>
                </a:solidFill>
              </a:defRPr>
            </a:pPr>
            <a:r>
              <a:rPr sz="1875" b="0">
                <a:solidFill>
                  <a:srgbClr val="092D27"/>
                </a:solidFill>
              </a:rPr>
              <a:t>“Seven repeated opposing cycles between linked accounts generated high turnover while returning close to the opening position.”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B8AC-6EA6-4D11-9A2E-37DAB38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[Trade:T183] [Trade:T187] [Position:P901] [Position:P905] [Ownership:O29]</a:t>
            </a:r>
          </a:p>
        </p:txBody>
      </p:sp>
    </p:spTree>
    <p:extLst>
      <p:ext uri="{BB962C8B-B14F-4D97-AF65-F5344CB8AC3E}">
        <p14:creationId xmlns:p14="http://schemas.microsoft.com/office/powerpoint/2010/main" val="636856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6A658-546F-4FD8-BD44-ED7FF99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E457-261C-407F-A392-EE69828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prototype demonstrates four judge-ready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85C1-A052-4648-9241-90B6B4A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61362-9D2D-45A5-B3F9-65DD6A0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3D77-A6F7-4E9D-85E2-B29BFB7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20B5-1422-49C2-B433-AC956EC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Obvious high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8E1D-21EF-4C00-8E4A-08A6770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94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D935F-45BA-49EF-8E1B-FC53DBC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EA2C9-A9D0-4455-A83C-133DB57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B34C-DF21-48C0-87A2-DABE08C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False-positive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FE50-EB9E-4A75-A6D8-0D7652B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22 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1D5D-66CF-419C-8B9A-0E89094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9D52-01BF-4A4D-AA56-4C2F214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C20B-84C8-4A3B-84D6-13DB1E6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AI connects the dots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1A6EC-ED76-47C7-99B0-67FF448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46 → 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B5FF-819C-46F2-8804-55F74F9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47166-146F-45BB-AD2D-E02992C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B7FF6-3166-4EC4-9C56-38253F2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Coordinated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EF0B0-5CA7-4906-B29B-4700CF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Weak trades → strong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7827-242C-435C-A894-5A6338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1223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8DC33-9EBE-4EBC-973C-4A13800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8EFE9-F3ED-4DBF-94DB-2C76AAB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One month is enough when sophistication is sequenced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018-23B9-4630-93AA-B0D2AD0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E1CA-7A24-4B4D-84A7-06B6E86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9448-8714-4D41-AE1F-459A3E7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BD1E-9989-4381-BCF5-6FE2613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131E-05C5-4A18-A414-B5F66AC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Trade → alert → 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43E3-C91D-4ECF-93E2-83865C0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Matching · recurrence ·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DF1DD-6C8C-41F6-85BC-D3540B4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09FF-346D-4B1D-81A1-D40286E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6C89-FAC8-42C2-9FB1-CF163BD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Alert → context → prioritised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953C2-0DE6-4C4E-A85C-249270C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Market · baseline · entity ·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5FC14-748F-42E1-9ECF-4779C23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F0092-DEA5-4BFA-BAE0-614997D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3DFB4-5101-4EA5-A99A-766588A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Case → evidence →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7490C-BF74-409C-A244-C31F16F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Citations · confidence ·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9B0D-E0C1-48D6-9401-8D0B7B7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4EB2A-A90E-41ED-81B2-89B760C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948A-FAC2-43A3-9B2B-DA23657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Reliability, calibration and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44445-5FC0-4FBB-8360-BCFEC8A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QA · KPIs · rehearsal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6FAC4-AD5B-4647-85FF-4DB1EE3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2D27"/>
                </a:solidFill>
              </a:defRPr>
            </a:pPr>
            <a:r>
              <a:rPr sz="2100" b="1">
                <a:solidFill>
                  <a:srgbClr val="092D27"/>
                </a:solidFill>
              </a:rPr>
              <a:t>Stop chasing experimental graph ML. Win with a fully working, explainable flow.</a:t>
            </a:r>
          </a:p>
        </p:txBody>
      </p:sp>
    </p:spTree>
    <p:extLst>
      <p:ext uri="{BB962C8B-B14F-4D97-AF65-F5344CB8AC3E}">
        <p14:creationId xmlns:p14="http://schemas.microsoft.com/office/powerpoint/2010/main" val="1719276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AD3F-26F4-46C1-AF53-C2AC071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FEDB-6AA4-4EB8-ACEE-2193B37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Success is measured in evidence, priority and time saved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27FB-B447-4B1B-B9D6-5DCBAB5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7D60B-03F1-4858-BC44-6F0A218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D09-9D7A-4C92-BD45-ACFDBCB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7F644-A587-4CC6-857B-1DCED72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F4651-AE10-4B08-B0D8-725CCBF0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citation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08C8-CA21-4816-8EF0-3E6A2E6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D9725-659A-4018-8883-9545862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9575-6A33-48DD-880B-9586BFF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unsupported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69EB4-5152-4CDD-A624-410E45A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D7C7F-AADB-4D9B-8B36-6A2F8CA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67%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5812-99F5-4BC0-ADCB-AA6F1D3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synthetic case compression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E9B8-703A-4306-8796-F5062A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0506-BCD0-4A87-BE76-79651DF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4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6A4B6-9925-4D3F-A124-CEBBC6C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golden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E9934-880E-443B-9726-1C48436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36A62-2C70-4D45-A5CB-3896DE2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D8B1"/>
                </a:solidFill>
              </a:defRPr>
            </a:pPr>
            <a:r>
              <a:rPr sz="1125" b="1">
                <a:solidFill>
                  <a:srgbClr val="64D8B1"/>
                </a:solidFill>
              </a:rPr>
              <a:t>Decision requested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A6332-AB4D-4B4C-B332-39CB6C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Approve a four-week MVP focused on evidence-backed case prioritisation.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287FE-73A3-40B8-ACF7-256A265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AI prioritises. Evidence explains. Human decides.</a:t>
            </a:r>
          </a:p>
        </p:txBody>
      </p:sp>
    </p:spTree>
    <p:extLst>
      <p:ext uri="{BB962C8B-B14F-4D97-AF65-F5344CB8AC3E}">
        <p14:creationId xmlns:p14="http://schemas.microsoft.com/office/powerpoint/2010/main" val="163524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2026-08-25T05:03:47.0500000Z</dcterms:created>
  <dcterms:modified xsi:type="dcterms:W3CDTF">2026-08-25T05:03:47.0500000Z</dcterms:modified>
</coreProperties>
</file>