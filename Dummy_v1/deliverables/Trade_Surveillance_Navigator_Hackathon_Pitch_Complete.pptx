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5fcf61b24974c86" /><Relationship Type="http://schemas.openxmlformats.org/officeDocument/2006/relationships/extended-properties" Target="/docProps/app.xml" Id="R8bf6fdd0f7464a35" /><Relationship Type="http://schemas.openxmlformats.org/officeDocument/2006/relationships/officeDocument" Target="/ppt/presentation.xml" Id="R52205cfa4e32434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b0079fde81e4136"/>
  </p:sldMasterIdLst>
  <p:notesMasterIdLst>
    <p:notesMasterId xmlns:r="http://schemas.openxmlformats.org/officeDocument/2006/relationships" r:id="R1db3b9c7681643d4"/>
  </p:notesMasterIdLst>
  <p:sldIdLst>
    <p:sldId xmlns:r="http://schemas.openxmlformats.org/officeDocument/2006/relationships" id="256" r:id="R55b325432bbf48b4"/>
    <p:sldId xmlns:r="http://schemas.openxmlformats.org/officeDocument/2006/relationships" id="257" r:id="Rfa893447b52e426b"/>
    <p:sldId xmlns:r="http://schemas.openxmlformats.org/officeDocument/2006/relationships" id="258" r:id="R2c342190baaf492a"/>
    <p:sldId xmlns:r="http://schemas.openxmlformats.org/officeDocument/2006/relationships" id="259" r:id="R559f41560ea4463c"/>
    <p:sldId xmlns:r="http://schemas.openxmlformats.org/officeDocument/2006/relationships" id="260" r:id="Re5f9398e623840e3"/>
    <p:sldId xmlns:r="http://schemas.openxmlformats.org/officeDocument/2006/relationships" id="261" r:id="Rd77a06b300f5415a"/>
    <p:sldId xmlns:r="http://schemas.openxmlformats.org/officeDocument/2006/relationships" id="262" r:id="R861b5b7b94754b64"/>
    <p:sldId xmlns:r="http://schemas.openxmlformats.org/officeDocument/2006/relationships" id="263" r:id="Raebc15fc7098440b"/>
    <p:sldId xmlns:r="http://schemas.openxmlformats.org/officeDocument/2006/relationships" id="264" r:id="R1afc8bc689dd4eed"/>
    <p:sldId xmlns:r="http://schemas.openxmlformats.org/officeDocument/2006/relationships" id="265" r:id="R501a9b1d0c2f4cb5"/>
    <p:sldId xmlns:r="http://schemas.openxmlformats.org/officeDocument/2006/relationships" id="266" r:id="R5f19bf89757c48f9"/>
    <p:sldId xmlns:r="http://schemas.openxmlformats.org/officeDocument/2006/relationships" id="267" r:id="R341eaefbd6a042ae"/>
    <p:sldId xmlns:r="http://schemas.openxmlformats.org/officeDocument/2006/relationships" id="268" r:id="R14496804826d4ac0"/>
    <p:sldId xmlns:r="http://schemas.openxmlformats.org/officeDocument/2006/relationships" id="269" r:id="R7e8c1e032a4c418a"/>
    <p:sldId xmlns:r="http://schemas.openxmlformats.org/officeDocument/2006/relationships" id="270" r:id="R857591d6314047f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13d67650e284c47" /><Relationship Type="http://schemas.openxmlformats.org/officeDocument/2006/relationships/slideMaster" Target="/ppt/slideMasters/slideMaster1.xml" Id="R8b0079fde81e4136" /><Relationship Type="http://schemas.openxmlformats.org/officeDocument/2006/relationships/notesMaster" Target="/ppt/notesMasters/notesMaster1.xml" Id="R1db3b9c7681643d4" /><Relationship Type="http://schemas.openxmlformats.org/officeDocument/2006/relationships/presProps" Target="/ppt/presProps.xml" Id="R9b692bda87ab4caa" /><Relationship Type="http://schemas.openxmlformats.org/officeDocument/2006/relationships/tableStyles" Target="/ppt/tableStyles.xml" Id="R5ca2ccdd75e54801" /><Relationship Type="http://schemas.openxmlformats.org/officeDocument/2006/relationships/slide" Target="/ppt/slides/slide1.xml" Id="R55b325432bbf48b4" /><Relationship Type="http://schemas.openxmlformats.org/officeDocument/2006/relationships/slide" Target="/ppt/slides/slide2.xml" Id="Rfa893447b52e426b" /><Relationship Type="http://schemas.openxmlformats.org/officeDocument/2006/relationships/slide" Target="/ppt/slides/slide3.xml" Id="R2c342190baaf492a" /><Relationship Type="http://schemas.openxmlformats.org/officeDocument/2006/relationships/slide" Target="/ppt/slides/slide4.xml" Id="R559f41560ea4463c" /><Relationship Type="http://schemas.openxmlformats.org/officeDocument/2006/relationships/slide" Target="/ppt/slides/slide5.xml" Id="Re5f9398e623840e3" /><Relationship Type="http://schemas.openxmlformats.org/officeDocument/2006/relationships/slide" Target="/ppt/slides/slide6.xml" Id="Rd77a06b300f5415a" /><Relationship Type="http://schemas.openxmlformats.org/officeDocument/2006/relationships/slide" Target="/ppt/slides/slide7.xml" Id="R861b5b7b94754b64" /><Relationship Type="http://schemas.openxmlformats.org/officeDocument/2006/relationships/slide" Target="/ppt/slides/slide8.xml" Id="Raebc15fc7098440b" /><Relationship Type="http://schemas.openxmlformats.org/officeDocument/2006/relationships/slide" Target="/ppt/slides/slide9.xml" Id="R1afc8bc689dd4eed" /><Relationship Type="http://schemas.openxmlformats.org/officeDocument/2006/relationships/slide" Target="/ppt/slides/slide10.xml" Id="R501a9b1d0c2f4cb5" /><Relationship Type="http://schemas.openxmlformats.org/officeDocument/2006/relationships/slide" Target="/ppt/slides/slide11.xml" Id="R5f19bf89757c48f9" /><Relationship Type="http://schemas.openxmlformats.org/officeDocument/2006/relationships/slide" Target="/ppt/slides/slide12.xml" Id="R341eaefbd6a042ae" /><Relationship Type="http://schemas.openxmlformats.org/officeDocument/2006/relationships/slide" Target="/ppt/slides/slide13.xml" Id="R14496804826d4ac0" /><Relationship Type="http://schemas.openxmlformats.org/officeDocument/2006/relationships/slide" Target="/ppt/slides/slide14.xml" Id="R7e8c1e032a4c418a" /><Relationship Type="http://schemas.openxmlformats.org/officeDocument/2006/relationships/slide" Target="/ppt/slides/slide15.xml" Id="R857591d6314047f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acd7df6e6124c3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eb409d9fc064e2f" /><Relationship Type="http://schemas.openxmlformats.org/officeDocument/2006/relationships/notesMaster" Target="/ppt/notesMasters/notesMaster1.xml" Id="R031afdc0f2f44cb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ff51211a4af4cec" /><Relationship Type="http://schemas.openxmlformats.org/officeDocument/2006/relationships/notesMaster" Target="/ppt/notesMasters/notesMaster1.xml" Id="R39c3c4e7dee14e2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c2e53adda8e449c" /><Relationship Type="http://schemas.openxmlformats.org/officeDocument/2006/relationships/notesMaster" Target="/ppt/notesMasters/notesMaster1.xml" Id="R8fa85157bbbb402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c6c62044cd14e94" /><Relationship Type="http://schemas.openxmlformats.org/officeDocument/2006/relationships/notesMaster" Target="/ppt/notesMasters/notesMaster1.xml" Id="R6f4f9f2f8d6445b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58c3c9e6b474e9d" /><Relationship Type="http://schemas.openxmlformats.org/officeDocument/2006/relationships/notesMaster" Target="/ppt/notesMasters/notesMaster1.xml" Id="Rd459d6c6f7b2408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f35708c2b0b4e75" /><Relationship Type="http://schemas.openxmlformats.org/officeDocument/2006/relationships/notesMaster" Target="/ppt/notesMasters/notesMaster1.xml" Id="R9c04cbc5ebe2494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2eece9843c64806" /><Relationship Type="http://schemas.openxmlformats.org/officeDocument/2006/relationships/notesMaster" Target="/ppt/notesMasters/notesMaster1.xml" Id="R60b7dce2b03f420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eb2d4c685344336" /><Relationship Type="http://schemas.openxmlformats.org/officeDocument/2006/relationships/notesMaster" Target="/ppt/notesMasters/notesMaster1.xml" Id="Rda5bb6ae44044d4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6a6da9a9bf64285" /><Relationship Type="http://schemas.openxmlformats.org/officeDocument/2006/relationships/notesMaster" Target="/ppt/notesMasters/notesMaster1.xml" Id="Rc59986fff6ec4d9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e2c7a8b4e094b10" /><Relationship Type="http://schemas.openxmlformats.org/officeDocument/2006/relationships/notesMaster" Target="/ppt/notesMasters/notesMaster1.xml" Id="R69eb402b16e84b8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6670d7967ad41e6" /><Relationship Type="http://schemas.openxmlformats.org/officeDocument/2006/relationships/notesMaster" Target="/ppt/notesMasters/notesMaster1.xml" Id="Rc97e6fb65154471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fca5c5f3e5c4205" /><Relationship Type="http://schemas.openxmlformats.org/officeDocument/2006/relationships/notesMaster" Target="/ppt/notesMasters/notesMaster1.xml" Id="R3abf48d27a254bb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c0073559b9a49b0" /><Relationship Type="http://schemas.openxmlformats.org/officeDocument/2006/relationships/notesMaster" Target="/ppt/notesMasters/notesMaster1.xml" Id="Rbbb8a25799bb416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b5874c74b3243f3" /><Relationship Type="http://schemas.openxmlformats.org/officeDocument/2006/relationships/notesMaster" Target="/ppt/notesMasters/notesMaster1.xml" Id="Rf7851a1274a5489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9195148b4d84421" /><Relationship Type="http://schemas.openxmlformats.org/officeDocument/2006/relationships/notesMaster" Target="/ppt/notesMasters/notesMaster1.xml" Id="R94861725fbb64c6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Opening: introduce Trade Surveillance Navigator as a context-aware intelligence layer for explainable, evidence-backed investigations.</a:t>
            </a:r>
          </a:p>
          <a:p xmlns:a="http://schemas.openxmlformats.org/drawingml/2006/main">
            <a:r>
              <a:t>Emphasise the operating principle: AI prioritises, evidence explains and authorised investigators decide.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OpenAI ImageGen project asset: /Users/shivamshukla/Documents/HACKTHON/presentation-assets/cover-trade-surveillance-navigator.png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business problem: alert volume is not the same as investigative signal.</a:t>
            </a:r>
          </a:p>
          <a:p xmlns:a="http://schemas.openxmlformats.org/drawingml/2006/main">
            <a:r>
              <a:t>Static rules lack context, evidence remains fragmented and investigators spend time assembling facts before they can assess risk.</a:t>
            </a:r>
          </a:p>
          <a:p xmlns:a="http://schemas.openxmlformats.org/drawingml/2006/main">
            <a:r>
              <a:t>The slide intentionally uses no numerical claim; it frames the documented prototype objective.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/Users/shivamshukla/.codex/attachments/9a9f726b-71a2-4f7e-aa84-20169b6c7d19/pasted-text.txt</a:t>
            </a:r>
          </a:p>
          <a:p xmlns:a="http://schemas.openxmlformats.org/drawingml/2006/main">
            <a:r>
              <a:t>- OpenAI ImageGen asset: /Users/shivamshukla/Documents/HACKTHON/presentation-assets/00-problem-statement-alerts-vs-signal.png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supervised model recognises known combinations; Isolation Forest contributes novel-behaviour detection.</a:t>
            </a:r>
          </a:p>
          <a:p xmlns:a="http://schemas.openxmlformats.org/drawingml/2006/main">
            <a:r>
              <a:t>The final score blends transparent rules with the trained ML result. OpenAI is an explanation layer only.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/Users/shivamshukla/Documents/HACKTHON/ml-service-python/scripts/train_model.py</a:t>
            </a:r>
          </a:p>
          <a:p xmlns:a="http://schemas.openxmlformats.org/drawingml/2006/main">
            <a:r>
              <a:t>- /Users/shivamshukla/Documents/HACKTHON/ml-service-python/app/ml_model.py</a:t>
            </a:r>
          </a:p>
          <a:p xmlns:a="http://schemas.openxmlformats.org/drawingml/2006/main">
            <a:r>
              <a:t>- /Users/shivamshukla/Documents/HACKTHON/ml-service-python/app/main.py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visual to explain the false-positive reduction funnel and the role of machine learning in prioritization.</a:t>
            </a:r>
          </a:p>
          <a:p xmlns:a="http://schemas.openxmlformats.org/drawingml/2006/main">
            <a:r>
              <a:t>The investigator remains responsible for the final disposition.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OpenAI ImageGen asset: /Users/shivamshukla/Documents/HACKTHON/presentation-assets/01-alert-noise-to-investigative-signal.png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scenario to show how legitimate context lowers priority without deleting the original alert.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OpenAI ImageGen asset: /Users/shivamshukla/Documents/HACKTHON/presentation-assets/02-static-model-vs-surveillance-navigator.png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visual to reinforce that AI prioritises and explains while the investigator owns the outcome.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OpenAI ImageGen asset: /Users/shivamshukla/Documents/HACKTHON/presentation-assets/03-ai-prioritises-humans-decide.png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40448ba74d441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2d66ba087e64e9b" /><Relationship Type="http://schemas.openxmlformats.org/officeDocument/2006/relationships/slideLayout" Target="/ppt/slideLayouts/slideLayout1.xml" Id="R3a635b3384404d1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a635b3384404d1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bab38ad85a4ade" /><Relationship Type="http://schemas.openxmlformats.org/officeDocument/2006/relationships/image" Target="/ppt/media/image.png" Id="R7d9da0b6f98f4364" /><Relationship Type="http://schemas.openxmlformats.org/officeDocument/2006/relationships/notesSlide" Target="/ppt/notesSlides/notesSlide1.xml" Id="R1131d0aca6ac4d4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81664c01d541c4" /><Relationship Type="http://schemas.openxmlformats.org/officeDocument/2006/relationships/image" Target="/ppt/media/image2.png" Id="R2bd32c3dca3a47e4" /><Relationship Type="http://schemas.openxmlformats.org/officeDocument/2006/relationships/notesSlide" Target="/ppt/notesSlides/notesSlide2.xml" Id="Reacd093e3773472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e142f6d7b4447d" /><Relationship Type="http://schemas.openxmlformats.org/officeDocument/2006/relationships/notesSlide" Target="/ppt/notesSlides/notesSlide3.xml" Id="Rf1b3de0706b74e5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4812abf8a54dd3" /><Relationship Type="http://schemas.openxmlformats.org/officeDocument/2006/relationships/notesSlide" Target="/ppt/notesSlides/notesSlide4.xml" Id="Rd4844d0b9ebb47a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0c2a1c4d0e4b01" /><Relationship Type="http://schemas.openxmlformats.org/officeDocument/2006/relationships/notesSlide" Target="/ppt/notesSlides/notesSlide5.xml" Id="Rf60a3a0e34a0400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b0a55c13994014" /><Relationship Type="http://schemas.openxmlformats.org/officeDocument/2006/relationships/notesSlide" Target="/ppt/notesSlides/notesSlide6.xml" Id="Rcc38fe8ba1554b7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8c4a144fe44ced" /><Relationship Type="http://schemas.openxmlformats.org/officeDocument/2006/relationships/notesSlide" Target="/ppt/notesSlides/notesSlide7.xml" Id="R2529981c3f7547f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fe483a2c43483a" /><Relationship Type="http://schemas.openxmlformats.org/officeDocument/2006/relationships/notesSlide" Target="/ppt/notesSlides/notesSlide8.xml" Id="R34ef5adb71bb4df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fe33495eaf4ea9" /><Relationship Type="http://schemas.openxmlformats.org/officeDocument/2006/relationships/notesSlide" Target="/ppt/notesSlides/notesSlide9.xml" Id="Rd12bcd09d86149f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6e263fac1b40b5" /><Relationship Type="http://schemas.openxmlformats.org/officeDocument/2006/relationships/notesSlide" Target="/ppt/notesSlides/notesSlide10.xml" Id="Rf2545a9a4d9747b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7323c459f240a8" /><Relationship Type="http://schemas.openxmlformats.org/officeDocument/2006/relationships/notesSlide" Target="/ppt/notesSlides/notesSlide11.xml" Id="R667001063e564fc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42a2f183f1474c" /><Relationship Type="http://schemas.openxmlformats.org/officeDocument/2006/relationships/notesSlide" Target="/ppt/notesSlides/notesSlide12.xml" Id="Rc3cd97656e31497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c5712f00c840ba" /><Relationship Type="http://schemas.openxmlformats.org/officeDocument/2006/relationships/image" Target="/ppt/media/image3.png" Id="R3339f728799f4d42" /><Relationship Type="http://schemas.openxmlformats.org/officeDocument/2006/relationships/notesSlide" Target="/ppt/notesSlides/notesSlide13.xml" Id="Rea191ebcde79442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2bbb40cd814128" /><Relationship Type="http://schemas.openxmlformats.org/officeDocument/2006/relationships/image" Target="/ppt/media/image4.png" Id="Rc60aa11582974c53" /><Relationship Type="http://schemas.openxmlformats.org/officeDocument/2006/relationships/notesSlide" Target="/ppt/notesSlides/notesSlide14.xml" Id="R615e9ca9a873414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15759e2e434bd8" /><Relationship Type="http://schemas.openxmlformats.org/officeDocument/2006/relationships/image" Target="/ppt/media/image5.png" Id="R16e3a3a24d0949d0" /><Relationship Type="http://schemas.openxmlformats.org/officeDocument/2006/relationships/notesSlide" Target="/ppt/notesSlides/notesSlide15.xml" Id="R86a2c371be3f477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9da0b6f98f4364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1D49F5-5819-4DCA-A351-B48197546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73C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B73CE"/>
                </a:solidFill>
                <a:latin typeface="Aptos"/>
                <a:ea typeface="Aptos"/>
                <a:cs typeface="Aptos"/>
              </a:rPr>
              <a:t>HACKATHON · TRADE SURVEILLANCE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229230-6345-4A89-BC95-AC57B38FA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61912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4350" b="1">
                <a:solidFill>
                  <a:srgbClr val="071F4D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071F4D"/>
                </a:solidFill>
                <a:latin typeface="Aptos"/>
                <a:ea typeface="Aptos"/>
                <a:cs typeface="Aptos"/>
              </a:rPr>
              <a:t>Trade Surveillance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4350" b="1">
                <a:solidFill>
                  <a:srgbClr val="071F4D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071F4D"/>
                </a:solidFill>
                <a:latin typeface="Aptos"/>
                <a:ea typeface="Aptos"/>
                <a:cs typeface="Aptos"/>
              </a:rPr>
              <a:t>Navigator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87BA1F-B659-4FD8-9D76-128A6ADB5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52750"/>
            <a:ext cx="571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>
                <a:solidFill>
                  <a:srgbClr val="24537F"/>
                </a:solidFill>
                <a:latin typeface="Aptos"/>
                <a:ea typeface="Aptos"/>
                <a:cs typeface="Aptos"/>
              </a:defRPr>
            </a:pPr>
            <a:r>
              <a:rPr sz="1950">
                <a:solidFill>
                  <a:srgbClr val="24537F"/>
                </a:solidFill>
                <a:latin typeface="Aptos"/>
                <a:ea typeface="Aptos"/>
                <a:cs typeface="Aptos"/>
              </a:rPr>
              <a:t>Context-aware AI for explainable,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950">
                <a:solidFill>
                  <a:srgbClr val="24537F"/>
                </a:solidFill>
                <a:latin typeface="Aptos"/>
                <a:ea typeface="Aptos"/>
                <a:cs typeface="Aptos"/>
              </a:defRPr>
            </a:pPr>
            <a:r>
              <a:rPr sz="1950">
                <a:solidFill>
                  <a:srgbClr val="24537F"/>
                </a:solidFill>
                <a:latin typeface="Aptos"/>
                <a:ea typeface="Aptos"/>
                <a:cs typeface="Aptos"/>
              </a:rPr>
              <a:t>evidence-backed investigations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DA2CDC-37BF-413B-8C37-8404D5D03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243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73C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73CE"/>
                </a:solidFill>
                <a:latin typeface="Aptos"/>
                <a:ea typeface="Aptos"/>
                <a:cs typeface="Aptos"/>
              </a:rPr>
              <a:t>AI PRIORITISES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B62344-22A7-4F60-9D1E-3CD512579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324350"/>
            <a:ext cx="2047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A8E9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A8E9B"/>
                </a:solidFill>
                <a:latin typeface="Aptos"/>
                <a:ea typeface="Aptos"/>
                <a:cs typeface="Aptos"/>
              </a:rPr>
              <a:t>EVIDENCE EXPLAINS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E2888F-0CC1-42F8-BD6D-BE1F91E86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3243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F4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71F4D"/>
                </a:solidFill>
                <a:latin typeface="Aptos"/>
                <a:ea typeface="Aptos"/>
                <a:cs typeface="Aptos"/>
              </a:rPr>
              <a:t>HUMANS DECIDE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ECFC26-37CC-4875-88B2-DC5A7E2D2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960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55728F"/>
                </a:solidFill>
                <a:latin typeface="Aptos"/>
                <a:ea typeface="Aptos"/>
                <a:cs typeface="Aptos"/>
              </a:defRPr>
            </a:pPr>
            <a:r>
              <a:rPr sz="1050">
                <a:solidFill>
                  <a:srgbClr val="55728F"/>
                </a:solidFill>
                <a:latin typeface="Aptos"/>
                <a:ea typeface="Aptos"/>
                <a:cs typeface="Aptos"/>
              </a:rPr>
              <a:t>Hackathon Presentation  ·  Shivam Shukla</a:t>
            </a:r>
          </a:p>
        </p:txBody>
      </p:sp>
    </p:spTree>
    <p:extLst>
      <p:ext uri="{BB962C8B-B14F-4D97-AF65-F5344CB8AC3E}">
        <p14:creationId xmlns:p14="http://schemas.microsoft.com/office/powerpoint/2010/main" val="2615821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d32c3dca3a47e4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27524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213ED0-3FD1-4034-8FF1-F16B7020F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E7A5F"/>
                </a:solidFill>
              </a:defRPr>
            </a:pPr>
            <a:r>
              <a:rPr sz="975" b="1">
                <a:solidFill>
                  <a:srgbClr val="0E7A5F"/>
                </a:solidFill>
              </a:rPr>
              <a:t>AEGIS / SURVEILLANCE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A5CB3A-BD1F-46FD-88FE-1DD1F62B0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92D27"/>
                </a:solidFill>
              </a:defRPr>
            </a:pPr>
            <a:r>
              <a:rPr sz="2850" b="1">
                <a:solidFill>
                  <a:srgbClr val="092D27"/>
                </a:solidFill>
              </a:rPr>
              <a:t>The current queue sees alerts; AEGIS sees the case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F72C5E-A5C6-481D-8D7A-E7210233C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906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546984-B667-41FA-86D8-F3D0F9E1F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56F"/>
                </a:solidFill>
              </a:defRPr>
            </a:pPr>
            <a:r>
              <a:rPr sz="825" b="0">
                <a:solidFill>
                  <a:srgbClr val="66756F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D6D571-1364-4889-BD2F-303B2F20B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D94E4E"/>
                </a:solidFill>
              </a:defRPr>
            </a:pPr>
            <a:r>
              <a:rPr sz="1200" b="1">
                <a:solidFill>
                  <a:srgbClr val="D94E4E"/>
                </a:solidFill>
              </a:rPr>
              <a:t>BEFORE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088357-64C0-434B-BE1F-6D6443C63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05000"/>
            <a:ext cx="4381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92D27"/>
                </a:solidFill>
              </a:defRPr>
            </a:pPr>
            <a:r>
              <a:rPr sz="3150" b="1">
                <a:solidFill>
                  <a:srgbClr val="092D27"/>
                </a:solidFill>
              </a:rPr>
              <a:t>31 isolated rule alerts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F28EDE-3200-450C-A76B-B0FC6E2B8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62250"/>
            <a:ext cx="4286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756F"/>
                </a:solidFill>
              </a:defRPr>
            </a:pPr>
            <a:r>
              <a:rPr sz="1500" b="0">
                <a:solidFill>
                  <a:srgbClr val="66756F"/>
                </a:solidFill>
              </a:rPr>
              <a:t>Repeated review of trades, accounts and context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6756F"/>
                </a:solidFill>
              </a:defRPr>
            </a:pPr>
            <a:r>
              <a:rPr sz="1500" b="0">
                <a:solidFill>
                  <a:srgbClr val="66756F"/>
                </a:solidFill>
              </a:rPr>
              <a:t>with weak prioritisation and manual evidence gathering.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E2A43D-79C9-4ADE-9A7E-437E1D91A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5621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E7A5F"/>
                </a:solidFill>
              </a:defRPr>
            </a:pPr>
            <a:r>
              <a:rPr sz="1200" b="1">
                <a:solidFill>
                  <a:srgbClr val="0E7A5F"/>
                </a:solidFill>
              </a:rPr>
              <a:t>AFTER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DF60AA-BC3A-4576-9BB6-795875012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05000"/>
            <a:ext cx="4381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92D27"/>
                </a:solidFill>
              </a:defRPr>
            </a:pPr>
            <a:r>
              <a:rPr sz="3150" b="1">
                <a:solidFill>
                  <a:srgbClr val="092D27"/>
                </a:solidFill>
              </a:rPr>
              <a:t>1 prioritised case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917501-8765-4722-B2D5-02CFE53BC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62250"/>
            <a:ext cx="4572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756F"/>
                </a:solidFill>
              </a:defRPr>
            </a:pPr>
            <a:r>
              <a:rPr sz="1500" b="0">
                <a:solidFill>
                  <a:srgbClr val="66756F"/>
                </a:solidFill>
              </a:rPr>
              <a:t>67 trades · 4 accounts · 1 common UBO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66756F"/>
                </a:solidFill>
              </a:defRPr>
            </a:pPr>
            <a:r>
              <a:rPr sz="1500" b="0">
                <a:solidFill>
                  <a:srgbClr val="66756F"/>
                </a:solidFill>
              </a:rPr>
              <a:t>7 round trips · 2 venues · full evidence lineage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26AFF0-8E6E-4574-9538-E2A09A692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24375"/>
            <a:ext cx="10572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63D806-3C51-4C9A-B2A4-3121AA968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81550"/>
            <a:ext cx="1009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92D27"/>
                </a:solidFill>
              </a:defRPr>
            </a:pPr>
            <a:r>
              <a:rPr sz="1800" b="1">
                <a:solidFill>
                  <a:srgbClr val="092D27"/>
                </a:solidFill>
              </a:rPr>
              <a:t>The product does not create more alerts. It compresses, contextualises and prioritises the alerts already generated.</a:t>
            </a:r>
          </a:p>
        </p:txBody>
      </p:sp>
    </p:spTree>
    <p:extLst>
      <p:ext uri="{BB962C8B-B14F-4D97-AF65-F5344CB8AC3E}">
        <p14:creationId xmlns:p14="http://schemas.microsoft.com/office/powerpoint/2010/main" val="17517299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D7892A-2ADE-4606-AD82-BCC013E30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E7A5F"/>
                </a:solidFill>
              </a:defRPr>
            </a:pPr>
            <a:r>
              <a:rPr sz="975" b="1">
                <a:solidFill>
                  <a:srgbClr val="0E7A5F"/>
                </a:solidFill>
              </a:rPr>
              <a:t>AEGIS / SURVEILLANCE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BDDD96-5029-487F-9F86-16A9260C2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92D27"/>
                </a:solidFill>
              </a:defRPr>
            </a:pPr>
            <a:r>
              <a:rPr sz="2850" b="1">
                <a:solidFill>
                  <a:srgbClr val="092D27"/>
                </a:solidFill>
              </a:rPr>
              <a:t>A controlled hybrid architecture keeps AI in the right lane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46BDF2-9906-4F49-B80F-82C9A131B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906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13D882-D5E9-40DF-845F-8A87ACFB9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56F"/>
                </a:solidFill>
              </a:defRPr>
            </a:pPr>
            <a:r>
              <a:rPr sz="825" b="0">
                <a:solidFill>
                  <a:srgbClr val="66756F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B493C2-A41B-4CA7-A1FF-CF77452E6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0572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923BE7-04F5-4873-85B9-8B3679DD1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7640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92D27"/>
                </a:solidFill>
              </a:defRPr>
            </a:pPr>
            <a:r>
              <a:rPr sz="1500" b="1">
                <a:solidFill>
                  <a:srgbClr val="092D27"/>
                </a:solidFill>
              </a:rPr>
              <a:t>DETERMINISTIC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FF3E3A-BFB9-4CD7-90A7-8D0D3D6ED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76400"/>
            <a:ext cx="762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92D27"/>
                </a:solidFill>
              </a:defRPr>
            </a:pPr>
            <a:r>
              <a:rPr sz="1650" b="0">
                <a:solidFill>
                  <a:srgbClr val="092D27"/>
                </a:solidFill>
              </a:rPr>
              <a:t>Timing · price · size · exposure · liquidity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CFF32F-65A6-4900-9480-F336BD5D7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05075"/>
            <a:ext cx="10572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317A5F-5842-4128-BD76-ED34E67E5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7652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92D27"/>
                </a:solidFill>
              </a:defRPr>
            </a:pPr>
            <a:r>
              <a:rPr sz="1500" b="1">
                <a:solidFill>
                  <a:srgbClr val="092D27"/>
                </a:solidFill>
              </a:rPr>
              <a:t>ML / STATS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D52FD2-F0B7-43C6-8A89-E16226C31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676525"/>
            <a:ext cx="762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92D27"/>
                </a:solidFill>
              </a:defRPr>
            </a:pPr>
            <a:r>
              <a:rPr sz="1650" b="0">
                <a:solidFill>
                  <a:srgbClr val="092D27"/>
                </a:solidFill>
              </a:rPr>
              <a:t>EBM ranking · anomaly · peer deviation · clustering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EFEAF4-97F8-40F7-B222-42EABA063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05200"/>
            <a:ext cx="10572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01D413-E7BC-45EE-9638-59E47B544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766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92D27"/>
                </a:solidFill>
              </a:defRPr>
            </a:pPr>
            <a:r>
              <a:rPr sz="1500" b="1">
                <a:solidFill>
                  <a:srgbClr val="092D27"/>
                </a:solidFill>
              </a:rPr>
              <a:t>GRAPH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0DAE37-0988-4855-AA94-2266FC297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676650"/>
            <a:ext cx="762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92D27"/>
                </a:solidFill>
              </a:defRPr>
            </a:pPr>
            <a:r>
              <a:rPr sz="1650" b="0">
                <a:solidFill>
                  <a:srgbClr val="092D27"/>
                </a:solidFill>
              </a:rPr>
              <a:t>Common control · repeated edges · circular motifs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9B0E41-E776-40AB-B734-D7F819A76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05325"/>
            <a:ext cx="10572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6AA2F5-47E0-4E66-921F-72B6CF171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7677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E7A5F"/>
                </a:solidFill>
              </a:defRPr>
            </a:pPr>
            <a:r>
              <a:rPr sz="1500" b="1">
                <a:solidFill>
                  <a:srgbClr val="0E7A5F"/>
                </a:solidFill>
              </a:rPr>
              <a:t>LLM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FA49E6-A614-435A-A584-A3AD8A44D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676775"/>
            <a:ext cx="762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92D27"/>
                </a:solidFill>
              </a:defRPr>
            </a:pPr>
            <a:r>
              <a:rPr sz="1650" b="0">
                <a:solidFill>
                  <a:srgbClr val="092D27"/>
                </a:solidFill>
              </a:rPr>
              <a:t>Evidence synthesis · timeline · rationale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4F0C7D-4DAF-4CB9-9E59-B9015DDF3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102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D94E4E"/>
                </a:solidFill>
              </a:defRPr>
            </a:pPr>
            <a:r>
              <a:rPr sz="2025" b="1">
                <a:solidFill>
                  <a:srgbClr val="D94E4E"/>
                </a:solidFill>
              </a:rPr>
              <a:t>No evidence → no factual claim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C49917-695F-47B9-B8EA-FF3DFE51C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81025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2025" b="1">
                <a:solidFill>
                  <a:srgbClr val="D94E4E"/>
                </a:solidFill>
              </a:defRPr>
            </a:pPr>
            <a:r>
              <a:rPr sz="2025" b="1">
                <a:solidFill>
                  <a:srgbClr val="D94E4E"/>
                </a:solidFill>
              </a:rPr>
              <a:t>No autonomous disposition</a:t>
            </a:r>
          </a:p>
        </p:txBody>
      </p:sp>
    </p:spTree>
    <p:extLst>
      <p:ext uri="{BB962C8B-B14F-4D97-AF65-F5344CB8AC3E}">
        <p14:creationId xmlns:p14="http://schemas.microsoft.com/office/powerpoint/2010/main" val="187858894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B559DD-6AA7-4779-8256-4045FE693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E7A5F"/>
                </a:solidFill>
              </a:defRPr>
            </a:pPr>
            <a:r>
              <a:rPr sz="975" b="1">
                <a:solidFill>
                  <a:srgbClr val="0E7A5F"/>
                </a:solidFill>
              </a:rPr>
              <a:t>AEGIS / SURVEILLANCE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9F651A-F536-43C4-B38C-7D2F61903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92D27"/>
                </a:solidFill>
              </a:defRPr>
            </a:pPr>
            <a:r>
              <a:rPr sz="2850" b="1">
                <a:solidFill>
                  <a:srgbClr val="092D27"/>
                </a:solidFill>
              </a:rPr>
              <a:t>The strongest MVP model is explainable by construction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E6118D-F0D8-4468-8D80-EC2FF66A7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906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4DFDBA-88B2-4437-9B9E-7F89303A3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56F"/>
                </a:solidFill>
              </a:defRPr>
            </a:pPr>
            <a:r>
              <a:rPr sz="825" b="0">
                <a:solidFill>
                  <a:srgbClr val="66756F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7B8379-1569-45A9-BCBF-C19EB8E04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E7A5F"/>
                </a:solidFill>
              </a:defRPr>
            </a:pPr>
            <a:r>
              <a:rPr sz="1050" b="1">
                <a:solidFill>
                  <a:srgbClr val="0E7A5F"/>
                </a:solidFill>
              </a:rPr>
              <a:t>CHAMPION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A345F6-9506-4D4C-879D-FE6933FBA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92D27"/>
                </a:solidFill>
              </a:defRPr>
            </a:pPr>
            <a:r>
              <a:rPr sz="3150" b="1">
                <a:solidFill>
                  <a:srgbClr val="092D27"/>
                </a:solidFill>
              </a:rPr>
              <a:t>Calibrated Explainable</a:t>
            </a:r>
          </a:p>
          <a:p xmlns:a="http://schemas.openxmlformats.org/drawingml/2006/main">
            <a:pPr algn="l">
              <a:buNone/>
              <a:defRPr sz="3150" b="1">
                <a:solidFill>
                  <a:srgbClr val="092D27"/>
                </a:solidFill>
              </a:defRPr>
            </a:pPr>
            <a:r>
              <a:rPr sz="3150" b="1">
                <a:solidFill>
                  <a:srgbClr val="092D27"/>
                </a:solidFill>
              </a:rPr>
              <a:t>Boosting Machine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FC82FE-8B89-448C-AB33-76CA92B3C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0"/>
            <a:ext cx="4857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756F"/>
                </a:solidFill>
              </a:defRPr>
            </a:pPr>
            <a:r>
              <a:rPr sz="1500" b="0">
                <a:solidFill>
                  <a:srgbClr val="66756F"/>
                </a:solidFill>
              </a:rPr>
              <a:t>Learns non-linear feature shapes and governed interactions while exposing each local contribution. Isotonic calibration converts ranking outputs into stable prioritisation bands.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7B8949-DB56-4F55-9755-30F2A59DE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1431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BFFA20-65EF-4878-A947-D0ACCCCA1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80975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92D27"/>
                </a:solidFill>
              </a:defRPr>
            </a:pPr>
            <a:r>
              <a:rPr sz="1650" b="1">
                <a:solidFill>
                  <a:srgbClr val="092D27"/>
                </a:solidFill>
              </a:rPr>
              <a:t>Isolation Forest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143A77-3649-4172-AE13-60A650E1F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495550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56F"/>
                </a:solidFill>
              </a:defRPr>
            </a:pPr>
            <a:r>
              <a:rPr sz="1200" b="0">
                <a:solidFill>
                  <a:srgbClr val="66756F"/>
                </a:solidFill>
              </a:rPr>
              <a:t>Behaviour anomaly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AF1EEF-2C16-4A46-B22E-C2D4C5921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619250"/>
            <a:ext cx="21431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2916A3-76B9-40C8-877C-48F8CB0A7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180975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92D27"/>
                </a:solidFill>
              </a:defRPr>
            </a:pPr>
            <a:r>
              <a:rPr sz="1650" b="1">
                <a:solidFill>
                  <a:srgbClr val="092D27"/>
                </a:solidFill>
              </a:rPr>
              <a:t>Min-cost flow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9CEC2A-54C8-43E2-ACC8-C46566CB0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495550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56F"/>
                </a:solidFill>
              </a:defRPr>
            </a:pPr>
            <a:r>
              <a:rPr sz="1200" b="0">
                <a:solidFill>
                  <a:srgbClr val="66756F"/>
                </a:solidFill>
              </a:rPr>
              <a:t>Fragment matching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521C66-4533-4245-A5C6-B6437BDE7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81375"/>
            <a:ext cx="21431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9AA63C-A337-4375-AE93-4707F0C58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71875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92D27"/>
                </a:solidFill>
              </a:defRPr>
            </a:pPr>
            <a:r>
              <a:rPr sz="1650" b="1">
                <a:solidFill>
                  <a:srgbClr val="092D27"/>
                </a:solidFill>
              </a:rPr>
              <a:t>Probabilistic linkage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2A901A-DAE9-4B2B-8F72-6C728E395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257675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56F"/>
                </a:solidFill>
              </a:defRPr>
            </a:pPr>
            <a:r>
              <a:rPr sz="1200" b="0">
                <a:solidFill>
                  <a:srgbClr val="66756F"/>
                </a:solidFill>
              </a:rPr>
              <a:t>Entity resolution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5A30C9-8BAA-40E5-8BA0-468146DFE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381375"/>
            <a:ext cx="21431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00D36A-43CC-4223-B3C4-0757BBA15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571875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92D27"/>
                </a:solidFill>
              </a:defRPr>
            </a:pPr>
            <a:r>
              <a:rPr sz="1650" b="1">
                <a:solidFill>
                  <a:srgbClr val="092D27"/>
                </a:solidFill>
              </a:rPr>
              <a:t>Constrained clustering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3AC057-BCF4-448A-B259-3BEFE5408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257675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56F"/>
                </a:solidFill>
              </a:defRPr>
            </a:pPr>
            <a:r>
              <a:rPr sz="1200" b="0">
                <a:solidFill>
                  <a:srgbClr val="66756F"/>
                </a:solidFill>
              </a:rPr>
              <a:t>Case compression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1789E5-38C0-42BE-89E6-5F7DB462E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10250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D94E4E"/>
                </a:solidFill>
              </a:defRPr>
            </a:pPr>
            <a:r>
              <a:rPr sz="1950" b="1">
                <a:solidFill>
                  <a:srgbClr val="D94E4E"/>
                </a:solidFill>
              </a:rPr>
              <a:t>The score is priority—not the probability that abuse occurred.</a:t>
            </a:r>
          </a:p>
        </p:txBody>
      </p:sp>
    </p:spTree>
    <p:extLst>
      <p:ext uri="{BB962C8B-B14F-4D97-AF65-F5344CB8AC3E}">
        <p14:creationId xmlns:p14="http://schemas.microsoft.com/office/powerpoint/2010/main" val="110622938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BA279E-CFBC-4B87-B529-02F3ECC54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E7A5F"/>
                </a:solidFill>
              </a:defRPr>
            </a:pPr>
            <a:r>
              <a:rPr sz="975" b="1">
                <a:solidFill>
                  <a:srgbClr val="0E7A5F"/>
                </a:solidFill>
              </a:rPr>
              <a:t>AEGIS / SURVEILLANCE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F0B72D-93FE-4538-9DB0-EEBD81030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92D27"/>
                </a:solidFill>
              </a:defRPr>
            </a:pPr>
            <a:r>
              <a:rPr sz="2850" b="1">
                <a:solidFill>
                  <a:srgbClr val="092D27"/>
                </a:solidFill>
              </a:rPr>
              <a:t>Context can push the same rule pattern in opposite directions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0376E7-0F9B-4259-A902-7B1AFE295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906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9960BE-1B94-4664-9DA5-E7CC5C525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56F"/>
                </a:solidFill>
              </a:defRPr>
            </a:pPr>
            <a:r>
              <a:rPr sz="825" b="0">
                <a:solidFill>
                  <a:srgbClr val="66756F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BB1BF2-49B6-499E-9A8A-AD19862F1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D94E4E"/>
                </a:solidFill>
              </a:defRPr>
            </a:pPr>
            <a:r>
              <a:rPr sz="1125" b="1">
                <a:solidFill>
                  <a:srgbClr val="D94E4E"/>
                </a:solidFill>
              </a:rPr>
              <a:t>ILLQUID + LINKED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70407B-F489-44C1-BC8D-1E7DBBAC6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57375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4800" b="1">
                <a:solidFill>
                  <a:srgbClr val="D94E4E"/>
                </a:solidFill>
              </a:defRPr>
            </a:pPr>
            <a:r>
              <a:rPr sz="4800" b="1">
                <a:solidFill>
                  <a:srgbClr val="D94E4E"/>
                </a:solidFill>
              </a:rPr>
              <a:t>94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62C7BE-694C-48FA-8D80-ECEBBF89A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09875"/>
            <a:ext cx="4476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92D27"/>
                </a:solidFill>
              </a:defRPr>
            </a:pPr>
            <a:r>
              <a:rPr sz="1650" b="0">
                <a:solidFill>
                  <a:srgbClr val="092D27"/>
                </a:solidFill>
              </a:rPr>
              <a:t>8 seconds · 99.8% size match · 7 cycles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092D27"/>
                </a:solidFill>
              </a:defRPr>
            </a:pPr>
            <a:r>
              <a:rPr sz="1650" b="0">
                <a:solidFill>
                  <a:srgbClr val="092D27"/>
                </a:solidFill>
              </a:rPr>
              <a:t>Common UBO · 0.3% net exposure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F6251F-4D4D-4335-98DE-0BBB132BE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240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E7A5F"/>
                </a:solidFill>
              </a:defRPr>
            </a:pPr>
            <a:r>
              <a:rPr sz="1125" b="1">
                <a:solidFill>
                  <a:srgbClr val="0E7A5F"/>
                </a:solidFill>
              </a:rPr>
              <a:t>LIQUID + VOLATILE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74E2C6-B8E1-49D5-BB45-999845991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57375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4800" b="1">
                <a:solidFill>
                  <a:srgbClr val="0E7A5F"/>
                </a:solidFill>
              </a:defRPr>
            </a:pPr>
            <a:r>
              <a:rPr sz="4800" b="1">
                <a:solidFill>
                  <a:srgbClr val="0E7A5F"/>
                </a:solidFill>
              </a:rPr>
              <a:t>22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CF92B0-B495-4FAD-AF5E-0AB8FE49E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09875"/>
            <a:ext cx="4476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92D27"/>
                </a:solidFill>
              </a:defRPr>
            </a:pPr>
            <a:r>
              <a:rPr sz="1650" b="0">
                <a:solidFill>
                  <a:srgbClr val="092D27"/>
                </a:solidFill>
              </a:rPr>
              <a:t>High-volume event · normal strategy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092D27"/>
                </a:solidFill>
              </a:defRPr>
            </a:pPr>
            <a:r>
              <a:rPr sz="1650" b="0">
                <a:solidFill>
                  <a:srgbClr val="092D27"/>
                </a:solidFill>
              </a:rPr>
              <a:t>No resolved link · genuine position change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95AAA2-FFBD-4837-BD59-7CE6CEF08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10572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8789E4-F2D9-49B2-BEE9-2BC528387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24400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092D27"/>
                </a:solidFill>
              </a:defRPr>
            </a:pPr>
            <a:r>
              <a:rPr sz="2550" b="1">
                <a:solidFill>
                  <a:srgbClr val="092D27"/>
                </a:solidFill>
              </a:rPr>
              <a:t>RULE ALERT ≠ HIGH-RISK CASE</a:t>
            </a:r>
          </a:p>
        </p:txBody>
      </p:sp>
    </p:spTree>
    <p:extLst>
      <p:ext uri="{BB962C8B-B14F-4D97-AF65-F5344CB8AC3E}">
        <p14:creationId xmlns:p14="http://schemas.microsoft.com/office/powerpoint/2010/main" val="199827524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0CABE9-EAC1-4222-8CBC-793DEA862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E7A5F"/>
                </a:solidFill>
              </a:defRPr>
            </a:pPr>
            <a:r>
              <a:rPr sz="975" b="1">
                <a:solidFill>
                  <a:srgbClr val="0E7A5F"/>
                </a:solidFill>
              </a:rPr>
              <a:t>AEGIS / SURVEILLANCE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09F93C-B1E7-448C-97CF-A4D2CB862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92D27"/>
                </a:solidFill>
              </a:defRPr>
            </a:pPr>
            <a:r>
              <a:rPr sz="2850" b="1">
                <a:solidFill>
                  <a:srgbClr val="092D27"/>
                </a:solidFill>
              </a:rPr>
              <a:t>The score journey makes every intelligence gain visible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1E2DCD-A2ED-43C8-8096-F980A1A80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906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B68A17-1554-4F34-AF95-58DC8D91C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56F"/>
                </a:solidFill>
              </a:defRPr>
            </a:pPr>
            <a:r>
              <a:rPr sz="825" b="0">
                <a:solidFill>
                  <a:srgbClr val="66756F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2D23BA-0831-4633-B97E-05E248E03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43250"/>
            <a:ext cx="9620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55A572-5C3F-40E9-9761-BB43782C2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19375"/>
            <a:ext cx="1066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41C95A-AC06-4BAB-9DC0-7A08AA595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19400"/>
            <a:ext cx="1066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092D27"/>
                </a:solidFill>
              </a:defRPr>
            </a:pPr>
            <a:r>
              <a:rPr sz="2250" b="1">
                <a:solidFill>
                  <a:srgbClr val="092D27"/>
                </a:solidFill>
              </a:rPr>
              <a:t>51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37CC06-A0E7-410E-AADE-4392A2CCC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528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92D27"/>
                </a:solidFill>
              </a:defRPr>
            </a:pPr>
            <a:r>
              <a:rPr sz="1350" b="1">
                <a:solidFill>
                  <a:srgbClr val="092D27"/>
                </a:solidFill>
              </a:rPr>
              <a:t>Rule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6CFAF1-62B7-4EF5-A4EA-40E439D7B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87655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950" b="0">
                <a:solidFill>
                  <a:srgbClr val="66756F"/>
                </a:solidFill>
              </a:defRPr>
            </a:pPr>
            <a:r>
              <a:rPr sz="1950" b="0">
                <a:solidFill>
                  <a:srgbClr val="66756F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6EEF4D-091F-4069-9FFC-F552482A2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619375"/>
            <a:ext cx="1066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BCD59E-BF97-437B-8467-5DC0DA8E1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819400"/>
            <a:ext cx="1066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092D27"/>
                </a:solidFill>
              </a:defRPr>
            </a:pPr>
            <a:r>
              <a:rPr sz="2250" b="1">
                <a:solidFill>
                  <a:srgbClr val="092D27"/>
                </a:solidFill>
              </a:rPr>
              <a:t>67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F5C409-03D6-4275-9D71-278208C10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9528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92D27"/>
                </a:solidFill>
              </a:defRPr>
            </a:pPr>
            <a:r>
              <a:rPr sz="1350" b="1">
                <a:solidFill>
                  <a:srgbClr val="092D27"/>
                </a:solidFill>
              </a:rPr>
              <a:t>Pattern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8B1980-6A76-4757-9F99-79987C335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87655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950" b="0">
                <a:solidFill>
                  <a:srgbClr val="66756F"/>
                </a:solidFill>
              </a:defRPr>
            </a:pPr>
            <a:r>
              <a:rPr sz="1950" b="0">
                <a:solidFill>
                  <a:srgbClr val="66756F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7BE5D9-9DFF-4A53-81B3-CA473D4C8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619375"/>
            <a:ext cx="1066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B84EA9-511A-4E9D-BC2C-26F105F7C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819400"/>
            <a:ext cx="1066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092D27"/>
                </a:solidFill>
              </a:defRPr>
            </a:pPr>
            <a:r>
              <a:rPr sz="2250" b="1">
                <a:solidFill>
                  <a:srgbClr val="092D27"/>
                </a:solidFill>
              </a:rPr>
              <a:t>71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2B366F-73F0-4904-A613-F263ACA96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9528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92D27"/>
                </a:solidFill>
              </a:defRPr>
            </a:pPr>
            <a:r>
              <a:rPr sz="1350" b="1">
                <a:solidFill>
                  <a:srgbClr val="092D27"/>
                </a:solidFill>
              </a:rPr>
              <a:t>Market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765F5F-0D28-454C-A2EC-1E7876BAF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87655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950" b="0">
                <a:solidFill>
                  <a:srgbClr val="66756F"/>
                </a:solidFill>
              </a:defRPr>
            </a:pPr>
            <a:r>
              <a:rPr sz="1950" b="0">
                <a:solidFill>
                  <a:srgbClr val="66756F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BF2ED5-C13C-4485-B5C8-EB264FD4F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19375"/>
            <a:ext cx="1066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9FE1D4-D81A-45EE-9BEE-A942EF0A5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19400"/>
            <a:ext cx="1066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092D27"/>
                </a:solidFill>
              </a:defRPr>
            </a:pPr>
            <a:r>
              <a:rPr sz="2250" b="1">
                <a:solidFill>
                  <a:srgbClr val="092D27"/>
                </a:solidFill>
              </a:rPr>
              <a:t>83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AF7A7F-F0F9-40A3-B2B7-C30418601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9528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92D27"/>
                </a:solidFill>
              </a:defRPr>
            </a:pPr>
            <a:r>
              <a:rPr sz="1350" b="1">
                <a:solidFill>
                  <a:srgbClr val="092D27"/>
                </a:solidFill>
              </a:rPr>
              <a:t>Exposure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AA0AAA-CE5C-4B6D-B034-83F7EDC4A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87655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950" b="0">
                <a:solidFill>
                  <a:srgbClr val="66756F"/>
                </a:solidFill>
              </a:defRPr>
            </a:pPr>
            <a:r>
              <a:rPr sz="1950" b="0">
                <a:solidFill>
                  <a:srgbClr val="66756F"/>
                </a:solidFill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D2907B-6331-4558-B5DA-F6FE837E6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619375"/>
            <a:ext cx="1066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A5F"/>
          </a:solidFill>
          <a:ln xmlns:a="http://schemas.openxmlformats.org/drawingml/2006/main" w="9525">
            <a:solidFill>
              <a:srgbClr val="0E7A5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74C699-60C2-43F3-821B-FD148881C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819400"/>
            <a:ext cx="1066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94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FEC984-C201-4EA3-8FBC-A289301AD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95287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92D27"/>
                </a:solidFill>
              </a:defRPr>
            </a:pPr>
            <a:r>
              <a:rPr sz="1350" b="1">
                <a:solidFill>
                  <a:srgbClr val="092D27"/>
                </a:solidFill>
              </a:rPr>
              <a:t>Entity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2FA11A-E7F1-4074-9A4B-6F7532375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962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66756F"/>
                </a:solidFill>
              </a:defRPr>
            </a:pPr>
            <a:r>
              <a:rPr sz="1725" b="0">
                <a:solidFill>
                  <a:srgbClr val="66756F"/>
                </a:solidFill>
              </a:rPr>
              <a:t>Every stage stores feature values, contributions, versions and evidence references.</a:t>
            </a:r>
          </a:p>
        </p:txBody>
      </p:sp>
    </p:spTree>
    <p:extLst>
      <p:ext uri="{BB962C8B-B14F-4D97-AF65-F5344CB8AC3E}">
        <p14:creationId xmlns:p14="http://schemas.microsoft.com/office/powerpoint/2010/main" val="74564766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2C9CC4-DC21-48AA-96F5-0EA55428D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E7A5F"/>
                </a:solidFill>
              </a:defRPr>
            </a:pPr>
            <a:r>
              <a:rPr sz="975" b="1">
                <a:solidFill>
                  <a:srgbClr val="0E7A5F"/>
                </a:solidFill>
              </a:rPr>
              <a:t>AEGIS / SURVEILLANCE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4AB85E-4FAE-4B30-8C17-82BDCD331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92D27"/>
                </a:solidFill>
              </a:defRPr>
            </a:pPr>
            <a:r>
              <a:rPr sz="2850" b="1">
                <a:solidFill>
                  <a:srgbClr val="092D27"/>
                </a:solidFill>
              </a:rPr>
              <a:t>Every claim resolves to a metric and its source records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7C5FDC-F7B9-4602-A501-7C9E62491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906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E447C8-85A9-4874-8A52-3DEA57EFA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56F"/>
                </a:solidFill>
              </a:defRPr>
            </a:pPr>
            <a:r>
              <a:rPr sz="825" b="0">
                <a:solidFill>
                  <a:srgbClr val="66756F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B46060-F2D4-4C59-ADDC-3BE6672D1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192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E7A5F"/>
                </a:solidFill>
              </a:defRPr>
            </a:pPr>
            <a:r>
              <a:rPr sz="1050" b="1">
                <a:solidFill>
                  <a:srgbClr val="0E7A5F"/>
                </a:solidFill>
              </a:rPr>
              <a:t>CLAIM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4B54AA-3BCB-4652-9DAD-72B759DDA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81200"/>
            <a:ext cx="285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92D27"/>
                </a:solidFill>
              </a:defRPr>
            </a:pPr>
            <a:r>
              <a:rPr sz="2550" b="1">
                <a:solidFill>
                  <a:srgbClr val="092D27"/>
                </a:solidFill>
              </a:rPr>
              <a:t>Rapid position</a:t>
            </a:r>
          </a:p>
          <a:p xmlns:a="http://schemas.openxmlformats.org/drawingml/2006/main">
            <a:pPr algn="l">
              <a:buNone/>
              <a:defRPr sz="2550" b="1">
                <a:solidFill>
                  <a:srgbClr val="092D27"/>
                </a:solidFill>
              </a:defRPr>
            </a:pPr>
            <a:r>
              <a:rPr sz="2550" b="1">
                <a:solidFill>
                  <a:srgbClr val="092D27"/>
                </a:solidFill>
              </a:rPr>
              <a:t>round trip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57CE71-BF2B-4B7F-BB49-41E011BEE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2098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66756F"/>
                </a:solidFill>
              </a:defRPr>
            </a:pPr>
            <a:r>
              <a:rPr sz="2250" b="0">
                <a:solidFill>
                  <a:srgbClr val="66756F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5F3F22-C282-4DB6-AEBF-21F41E8C7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6192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E7A5F"/>
                </a:solidFill>
              </a:defRPr>
            </a:pPr>
            <a:r>
              <a:rPr sz="1050" b="1">
                <a:solidFill>
                  <a:srgbClr val="0E7A5F"/>
                </a:solidFill>
              </a:rPr>
              <a:t>METRIC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034733-B838-4142-904E-821B0BDE4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81200"/>
            <a:ext cx="304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92D27"/>
                </a:solidFill>
              </a:defRPr>
            </a:pPr>
            <a:r>
              <a:rPr sz="2550" b="1">
                <a:solidFill>
                  <a:srgbClr val="092D27"/>
                </a:solidFill>
              </a:rPr>
              <a:t>Net exposure ratio</a:t>
            </a:r>
          </a:p>
          <a:p xmlns:a="http://schemas.openxmlformats.org/drawingml/2006/main">
            <a:pPr algn="l">
              <a:buNone/>
              <a:defRPr sz="2550" b="1">
                <a:solidFill>
                  <a:srgbClr val="092D27"/>
                </a:solidFill>
              </a:defRPr>
            </a:pPr>
            <a:r>
              <a:rPr sz="2550" b="1">
                <a:solidFill>
                  <a:srgbClr val="092D27"/>
                </a:solidFill>
              </a:rPr>
              <a:t>= 0.30%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1190F0-D63F-4D85-8A41-4BF8E50D5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2098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66756F"/>
                </a:solidFill>
              </a:defRPr>
            </a:pPr>
            <a:r>
              <a:rPr sz="2250" b="0">
                <a:solidFill>
                  <a:srgbClr val="66756F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C329FA-E938-4F18-95AB-E9C67466E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6192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E7A5F"/>
                </a:solidFill>
              </a:defRPr>
            </a:pPr>
            <a:r>
              <a:rPr sz="1050" b="1">
                <a:solidFill>
                  <a:srgbClr val="0E7A5F"/>
                </a:solidFill>
              </a:rPr>
              <a:t>EVIDENCE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EDCA38-D4E9-4806-AA30-E36B8571A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981200"/>
            <a:ext cx="285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92D27"/>
                </a:solidFill>
              </a:defRPr>
            </a:pPr>
            <a:r>
              <a:rPr sz="2175" b="1">
                <a:solidFill>
                  <a:srgbClr val="092D27"/>
                </a:solidFill>
              </a:rPr>
              <a:t>[Trade:T183]</a:t>
            </a:r>
          </a:p>
          <a:p xmlns:a="http://schemas.openxmlformats.org/drawingml/2006/main">
            <a:pPr algn="l">
              <a:buNone/>
              <a:defRPr sz="2175" b="1">
                <a:solidFill>
                  <a:srgbClr val="092D27"/>
                </a:solidFill>
              </a:defRPr>
            </a:pPr>
            <a:r>
              <a:rPr sz="2175" b="1">
                <a:solidFill>
                  <a:srgbClr val="092D27"/>
                </a:solidFill>
              </a:rPr>
              <a:t>[Position:P905]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AE52E5-2C05-4D38-AD37-056D4E850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14750"/>
            <a:ext cx="105727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2E2828-0E1D-4BAA-B02F-DDE132705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092D27"/>
                </a:solidFill>
              </a:defRPr>
            </a:pPr>
            <a:r>
              <a:rPr sz="1875" b="0">
                <a:solidFill>
                  <a:srgbClr val="092D27"/>
                </a:solidFill>
              </a:rPr>
              <a:t>“Seven repeated opposing cycles between linked accounts generated high turnover while returning close to the opening position.”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14B8AC-6EA6-4D11-9A2E-37DAB38A4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10125"/>
            <a:ext cx="981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E7A5F"/>
                </a:solidFill>
              </a:defRPr>
            </a:pPr>
            <a:r>
              <a:rPr sz="1200" b="1">
                <a:solidFill>
                  <a:srgbClr val="0E7A5F"/>
                </a:solidFill>
              </a:rPr>
              <a:t>[Trade:T183] [Trade:T187] [Position:P901] [Position:P905] [Ownership:O29]</a:t>
            </a:r>
          </a:p>
        </p:txBody>
      </p:sp>
    </p:spTree>
    <p:extLst>
      <p:ext uri="{BB962C8B-B14F-4D97-AF65-F5344CB8AC3E}">
        <p14:creationId xmlns:p14="http://schemas.microsoft.com/office/powerpoint/2010/main" val="63685606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C6A658-546F-4FD8-BD44-ED7FF990A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E7A5F"/>
                </a:solidFill>
              </a:defRPr>
            </a:pPr>
            <a:r>
              <a:rPr sz="975" b="1">
                <a:solidFill>
                  <a:srgbClr val="0E7A5F"/>
                </a:solidFill>
              </a:rPr>
              <a:t>AEGIS / SURVEILLANCE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71E457-261C-407F-A392-EE698287A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92D27"/>
                </a:solidFill>
              </a:defRPr>
            </a:pPr>
            <a:r>
              <a:rPr sz="2850" b="1">
                <a:solidFill>
                  <a:srgbClr val="092D27"/>
                </a:solidFill>
              </a:rPr>
              <a:t>The prototype demonstrates four judge-ready moments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1985C1-A052-4648-9241-90B6B4A4A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906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061362-9D2D-45A5-B3F9-65DD6A01E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56F"/>
                </a:solidFill>
              </a:defRPr>
            </a:pPr>
            <a:r>
              <a:rPr sz="825" b="0">
                <a:solidFill>
                  <a:srgbClr val="66756F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F13D77-A6F7-4E9D-85E2-B29BFB7D3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52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E7A5F"/>
                </a:solidFill>
              </a:defRPr>
            </a:pPr>
            <a:r>
              <a:rPr sz="1800" b="1">
                <a:solidFill>
                  <a:srgbClr val="0E7A5F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CC20B5-1422-49C2-B433-AC956EC5D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4287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92D27"/>
                </a:solidFill>
              </a:defRPr>
            </a:pPr>
            <a:r>
              <a:rPr sz="1875" b="1">
                <a:solidFill>
                  <a:srgbClr val="092D27"/>
                </a:solidFill>
              </a:rPr>
              <a:t>Obvious high risk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D88E1D-21EF-4C00-8E4A-08A6770C6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4287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875" b="1">
                <a:solidFill>
                  <a:srgbClr val="D94E4E"/>
                </a:solidFill>
              </a:defRPr>
            </a:pPr>
            <a:r>
              <a:rPr sz="1875" b="1">
                <a:solidFill>
                  <a:srgbClr val="D94E4E"/>
                </a:solidFill>
              </a:rPr>
              <a:t>94 HIGH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ED935F-45BA-49EF-8E1B-FC53DBCDF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1930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5EA2C9-A9D0-4455-A83C-133DB57C3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24125"/>
            <a:ext cx="52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E7A5F"/>
                </a:solidFill>
              </a:defRPr>
            </a:pPr>
            <a:r>
              <a:rPr sz="1800" b="1">
                <a:solidFill>
                  <a:srgbClr val="0E7A5F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2DB34C-DF21-48C0-87A2-DABE08C1B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52412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92D27"/>
                </a:solidFill>
              </a:defRPr>
            </a:pPr>
            <a:r>
              <a:rPr sz="1875" b="1">
                <a:solidFill>
                  <a:srgbClr val="092D27"/>
                </a:solidFill>
              </a:rPr>
              <a:t>False-positive reduction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A0FE50-EB9E-4A75-A6D8-0D7652BED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52412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875" b="1">
                <a:solidFill>
                  <a:srgbClr val="0E7A5F"/>
                </a:solidFill>
              </a:defRPr>
            </a:pPr>
            <a:r>
              <a:rPr sz="1875" b="1">
                <a:solidFill>
                  <a:srgbClr val="0E7A5F"/>
                </a:solidFill>
              </a:rPr>
              <a:t>22 LOW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571D5D-66CF-419C-8B9A-0E890948A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1467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C99D52-01BF-4A4D-AA56-4C2F214D8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0"/>
            <a:ext cx="52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E7A5F"/>
                </a:solidFill>
              </a:defRPr>
            </a:pPr>
            <a:r>
              <a:rPr sz="1800" b="1">
                <a:solidFill>
                  <a:srgbClr val="0E7A5F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63C20B-84C8-4A3B-84D6-13DB1E689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6195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92D27"/>
                </a:solidFill>
              </a:defRPr>
            </a:pPr>
            <a:r>
              <a:rPr sz="1875" b="1">
                <a:solidFill>
                  <a:srgbClr val="092D27"/>
                </a:solidFill>
              </a:rPr>
              <a:t>AI connects the dots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F1A6EC-ED76-47C7-99B0-67FF448DA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195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875" b="1">
                <a:solidFill>
                  <a:srgbClr val="D94E4E"/>
                </a:solidFill>
              </a:defRPr>
            </a:pPr>
            <a:r>
              <a:rPr sz="1875" b="1">
                <a:solidFill>
                  <a:srgbClr val="D94E4E"/>
                </a:solidFill>
              </a:rPr>
              <a:t>46 → 87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9DB5FF-819C-46F2-8804-55F74F940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100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847166-146F-45BB-AD2D-E02992CA6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14875"/>
            <a:ext cx="52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E7A5F"/>
                </a:solidFill>
              </a:defRPr>
            </a:pPr>
            <a:r>
              <a:rPr sz="1800" b="1">
                <a:solidFill>
                  <a:srgbClr val="0E7A5F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BB7FF6-3166-4EC4-9C56-38253F289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71487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92D27"/>
                </a:solidFill>
              </a:defRPr>
            </a:pPr>
            <a:r>
              <a:rPr sz="1875" b="1">
                <a:solidFill>
                  <a:srgbClr val="092D27"/>
                </a:solidFill>
              </a:rPr>
              <a:t>Coordinated network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2EF0B0-5CA7-4906-B29B-4700CF114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71487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875" b="1">
                <a:solidFill>
                  <a:srgbClr val="D94E4E"/>
                </a:solidFill>
              </a:defRPr>
            </a:pPr>
            <a:r>
              <a:rPr sz="1875" b="1">
                <a:solidFill>
                  <a:srgbClr val="D94E4E"/>
                </a:solidFill>
              </a:rPr>
              <a:t>Weak trades → strong case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417827-242C-435C-A894-5A633823B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0542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EDA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1122346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38DC33-9EBE-4EBC-973C-4A13800A4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E7A5F"/>
                </a:solidFill>
              </a:defRPr>
            </a:pPr>
            <a:r>
              <a:rPr sz="975" b="1">
                <a:solidFill>
                  <a:srgbClr val="0E7A5F"/>
                </a:solidFill>
              </a:rPr>
              <a:t>AEGIS / SURVEILLANCE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38EFE9-F3ED-4DBF-94DB-2C76AAB32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92D27"/>
                </a:solidFill>
              </a:defRPr>
            </a:pPr>
            <a:r>
              <a:rPr sz="2850" b="1">
                <a:solidFill>
                  <a:srgbClr val="092D27"/>
                </a:solidFill>
              </a:rPr>
              <a:t>One month is enough when sophistication is sequenced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3D6018-23B9-4630-93AA-B0D2AD03E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906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ACE1CA-7A24-4B4D-84A7-06B6E862C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56F"/>
                </a:solidFill>
              </a:defRPr>
            </a:pPr>
            <a:r>
              <a:rPr sz="825" b="0">
                <a:solidFill>
                  <a:srgbClr val="66756F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A89448-8714-4D41-AE1F-459A3E786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192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E7A5F"/>
                </a:solidFill>
              </a:defRPr>
            </a:pPr>
            <a:r>
              <a:rPr sz="1050" b="1">
                <a:solidFill>
                  <a:srgbClr val="0E7A5F"/>
                </a:solidFill>
              </a:rPr>
              <a:t>WEEK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DABD1E-9989-4381-BCF5-6FE261314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47875"/>
            <a:ext cx="22860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02131E-05C5-4A18-A414-B5F66AC7C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33625"/>
            <a:ext cx="190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92D27"/>
                </a:solidFill>
              </a:defRPr>
            </a:pPr>
            <a:r>
              <a:rPr sz="1875" b="1">
                <a:solidFill>
                  <a:srgbClr val="092D27"/>
                </a:solidFill>
              </a:rPr>
              <a:t>Trade → alert → risk score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2A43E3-C91D-4ECF-93E2-83865C01C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71875"/>
            <a:ext cx="190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56F"/>
                </a:solidFill>
              </a:defRPr>
            </a:pPr>
            <a:r>
              <a:rPr sz="1200" b="0">
                <a:solidFill>
                  <a:srgbClr val="66756F"/>
                </a:solidFill>
              </a:rPr>
              <a:t>Matching · recurrence · exposure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FDF1DD-6C8C-41F6-85BC-D3540B431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16192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E7A5F"/>
                </a:solidFill>
              </a:defRPr>
            </a:pPr>
            <a:r>
              <a:rPr sz="1050" b="1">
                <a:solidFill>
                  <a:srgbClr val="0E7A5F"/>
                </a:solidFill>
              </a:rPr>
              <a:t>WEEK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C009FF-346D-4B1D-81A1-D40286E24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047875"/>
            <a:ext cx="22860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4B6C89-FAC8-42C2-9FB1-CF163BD4B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333625"/>
            <a:ext cx="190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92D27"/>
                </a:solidFill>
              </a:defRPr>
            </a:pPr>
            <a:r>
              <a:rPr sz="1875" b="1">
                <a:solidFill>
                  <a:srgbClr val="092D27"/>
                </a:solidFill>
              </a:rPr>
              <a:t>Alert → context → prioritised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D953C2-0DE6-4C4E-A85C-249270CB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571875"/>
            <a:ext cx="190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56F"/>
                </a:solidFill>
              </a:defRPr>
            </a:pPr>
            <a:r>
              <a:rPr sz="1200" b="0">
                <a:solidFill>
                  <a:srgbClr val="66756F"/>
                </a:solidFill>
              </a:rPr>
              <a:t>Market · baseline · entity · cluster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15FC14-748F-42E1-9ECF-4779C2348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6192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E7A5F"/>
                </a:solidFill>
              </a:defRPr>
            </a:pPr>
            <a:r>
              <a:rPr sz="1050" b="1">
                <a:solidFill>
                  <a:srgbClr val="0E7A5F"/>
                </a:solidFill>
              </a:rPr>
              <a:t>WEEK 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EF0092-DEA5-4BFA-BAE0-614997D15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047875"/>
            <a:ext cx="22860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43DFB4-5101-4EA5-A99A-766588A82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333625"/>
            <a:ext cx="190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92D27"/>
                </a:solidFill>
              </a:defRPr>
            </a:pPr>
            <a:r>
              <a:rPr sz="1875" b="1">
                <a:solidFill>
                  <a:srgbClr val="092D27"/>
                </a:solidFill>
              </a:rPr>
              <a:t>Case → evidence → investigator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A7490C-BF74-409C-A244-C31F16F18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571875"/>
            <a:ext cx="190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56F"/>
                </a:solidFill>
              </a:defRPr>
            </a:pPr>
            <a:r>
              <a:rPr sz="1200" b="0">
                <a:solidFill>
                  <a:srgbClr val="66756F"/>
                </a:solidFill>
              </a:rPr>
              <a:t>Citations · confidence · workflow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459B0D-E0C1-48D6-9401-8D0B7B73A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16192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E7A5F"/>
                </a:solidFill>
              </a:defRPr>
            </a:pPr>
            <a:r>
              <a:rPr sz="1050" b="1">
                <a:solidFill>
                  <a:srgbClr val="0E7A5F"/>
                </a:solidFill>
              </a:rPr>
              <a:t>WEEK 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24EB2A-A90E-41ED-81B2-89B760CFF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047875"/>
            <a:ext cx="22860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A0948A-FAC2-43A3-9B2B-DA23657AE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2333625"/>
            <a:ext cx="190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92D27"/>
                </a:solidFill>
              </a:defRPr>
            </a:pPr>
            <a:r>
              <a:rPr sz="1875" b="1">
                <a:solidFill>
                  <a:srgbClr val="092D27"/>
                </a:solidFill>
              </a:rPr>
              <a:t>Reliability, calibration and story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744445-5FC0-4FBB-8360-BCFEC8AAD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3571875"/>
            <a:ext cx="190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56F"/>
                </a:solidFill>
              </a:defRPr>
            </a:pPr>
            <a:r>
              <a:rPr sz="1200" b="0">
                <a:solidFill>
                  <a:srgbClr val="66756F"/>
                </a:solidFill>
              </a:rPr>
              <a:t>QA · KPIs · rehearsal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16FAC4-AD5B-4647-85FF-4DB1EE36C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86375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92D27"/>
                </a:solidFill>
              </a:defRPr>
            </a:pPr>
            <a:r>
              <a:rPr sz="2100" b="1">
                <a:solidFill>
                  <a:srgbClr val="092D27"/>
                </a:solidFill>
              </a:rPr>
              <a:t>Stop chasing experimental graph ML. Win with a fully working, explainable flow.</a:t>
            </a:r>
          </a:p>
        </p:txBody>
      </p:sp>
    </p:spTree>
    <p:extLst>
      <p:ext uri="{BB962C8B-B14F-4D97-AF65-F5344CB8AC3E}">
        <p14:creationId xmlns:p14="http://schemas.microsoft.com/office/powerpoint/2010/main" val="171927633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7FAD3F-26F4-46C1-AF53-C2AC071A0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E7A5F"/>
                </a:solidFill>
              </a:defRPr>
            </a:pPr>
            <a:r>
              <a:rPr sz="975" b="1">
                <a:solidFill>
                  <a:srgbClr val="0E7A5F"/>
                </a:solidFill>
              </a:rPr>
              <a:t>AEGIS / SURVEILLANCE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54FEDB-6AA4-4EB8-ACEE-2193B3710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92D27"/>
                </a:solidFill>
              </a:defRPr>
            </a:pPr>
            <a:r>
              <a:rPr sz="2850" b="1">
                <a:solidFill>
                  <a:srgbClr val="092D27"/>
                </a:solidFill>
              </a:rPr>
              <a:t>Success is measured in evidence, priority and time saved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1927FB-B447-4B1B-B9D6-5DCBAB54D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906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67D60B-03F1-4858-BC44-6F0A21808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56F"/>
                </a:solidFill>
              </a:defRPr>
            </a:pPr>
            <a:r>
              <a:rPr sz="825" b="0">
                <a:solidFill>
                  <a:srgbClr val="66756F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174D09-9D7A-4C92-BD45-ACFDBCB3E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71625"/>
            <a:ext cx="25717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17F644-A587-4CC6-857B-1DCED7282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62125"/>
            <a:ext cx="2152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92D27"/>
                </a:solidFill>
              </a:defRPr>
            </a:pPr>
            <a:r>
              <a:rPr sz="3450" b="1">
                <a:solidFill>
                  <a:srgbClr val="092D27"/>
                </a:solidFill>
              </a:rPr>
              <a:t>100%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6F4651-AE10-4B08-B0D8-725CCBF07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66975"/>
            <a:ext cx="2152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56F"/>
                </a:solidFill>
              </a:defRPr>
            </a:pPr>
            <a:r>
              <a:rPr sz="1275" b="0">
                <a:solidFill>
                  <a:srgbClr val="66756F"/>
                </a:solidFill>
              </a:rPr>
              <a:t>citation coverage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8808C8-CA21-4816-8EF0-3E6A2E645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571625"/>
            <a:ext cx="25717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ED9725-659A-4018-8883-954586260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1762125"/>
            <a:ext cx="2152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92D27"/>
                </a:solidFill>
              </a:defRPr>
            </a:pPr>
            <a:r>
              <a:rPr sz="3450" b="1">
                <a:solidFill>
                  <a:srgbClr val="092D27"/>
                </a:solidFill>
              </a:rPr>
              <a:t>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199575-6A33-48DD-880B-9586BFF77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466975"/>
            <a:ext cx="2152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56F"/>
                </a:solidFill>
              </a:defRPr>
            </a:pPr>
            <a:r>
              <a:rPr sz="1275" b="0">
                <a:solidFill>
                  <a:srgbClr val="66756F"/>
                </a:solidFill>
              </a:rPr>
              <a:t>unsupported claims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E69EB4-5152-4CDD-A624-410E45AE4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571625"/>
            <a:ext cx="25717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AD7C7F-AADB-4D9B-8B36-6A2F8CAFA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62125"/>
            <a:ext cx="2152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92D27"/>
                </a:solidFill>
              </a:defRPr>
            </a:pPr>
            <a:r>
              <a:rPr sz="3450" b="1">
                <a:solidFill>
                  <a:srgbClr val="092D27"/>
                </a:solidFill>
              </a:rPr>
              <a:t>67%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615812-99F5-4BC0-ADCB-AA6F1D32E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66975"/>
            <a:ext cx="2152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56F"/>
                </a:solidFill>
              </a:defRPr>
            </a:pPr>
            <a:r>
              <a:rPr sz="1275" b="0">
                <a:solidFill>
                  <a:srgbClr val="66756F"/>
                </a:solidFill>
              </a:rPr>
              <a:t>synthetic case compression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A3E9B8-703A-4306-8796-F5062AF14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1571625"/>
            <a:ext cx="25717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D80506-BCD0-4A87-BE76-79651DF43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1762125"/>
            <a:ext cx="2152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92D27"/>
                </a:solidFill>
              </a:defRPr>
            </a:pPr>
            <a:r>
              <a:rPr sz="3450" b="1">
                <a:solidFill>
                  <a:srgbClr val="092D27"/>
                </a:solidFill>
              </a:rPr>
              <a:t>4 / 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D6A4B6-9925-4D3F-A124-CEBBC6C66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466975"/>
            <a:ext cx="2152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6756F"/>
                </a:solidFill>
              </a:defRPr>
            </a:pPr>
            <a:r>
              <a:rPr sz="1275" b="0">
                <a:solidFill>
                  <a:srgbClr val="66756F"/>
                </a:solidFill>
              </a:rPr>
              <a:t>golden scenarios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5E9934-880E-443B-9726-1C48436BA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05250"/>
            <a:ext cx="105727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2D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736A62-2C70-4D45-A5CB-3896DE2A3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43375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64D8B1"/>
                </a:solidFill>
              </a:defRPr>
            </a:pPr>
            <a:r>
              <a:rPr sz="1125" b="1">
                <a:solidFill>
                  <a:srgbClr val="64D8B1"/>
                </a:solidFill>
              </a:rPr>
              <a:t>Decision requested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4A6332-AB4D-4B4C-B332-39CB6C2E9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0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Approve a four-week MVP focused on evidence-backed case prioritisation.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6287FE-73A3-40B8-ACF7-256A265E6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0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0E7A5F"/>
                </a:solidFill>
              </a:defRPr>
            </a:pPr>
            <a:r>
              <a:rPr sz="1875" b="1">
                <a:solidFill>
                  <a:srgbClr val="0E7A5F"/>
                </a:solidFill>
              </a:rPr>
              <a:t>AI prioritises. Evidence explains. Human decides.</a:t>
            </a:r>
          </a:p>
        </p:txBody>
      </p:sp>
    </p:spTree>
    <p:extLst>
      <p:ext uri="{BB962C8B-B14F-4D97-AF65-F5344CB8AC3E}">
        <p14:creationId xmlns:p14="http://schemas.microsoft.com/office/powerpoint/2010/main" val="163524396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B559DD-6AA7-4779-8256-4045FE693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E7A5F"/>
                </a:solidFill>
              </a:defRPr>
            </a:pPr>
            <a:r>
              <a:rPr sz="975" b="1">
                <a:solidFill>
                  <a:srgbClr val="0E7A5F"/>
                </a:solidFill>
              </a:rPr>
              <a:t>AEGIS / SURVEILLANCE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9F651A-F536-43C4-B38C-7D2F61903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092D27"/>
                </a:solidFill>
              </a:defRPr>
            </a:pPr>
            <a:r>
              <a:rPr sz="2850" b="1">
                <a:solidFill>
                  <a:srgbClr val="092D27"/>
                </a:solidFill>
              </a:rPr>
              <a:t>Hybrid ML detects known patterns and novel anomalies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E6118D-F0D8-4468-8D80-EC2FF66A7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90625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4DFDBA-88B2-4437-9B9E-7F89303A3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6756F"/>
                </a:solidFill>
              </a:defRPr>
            </a:pPr>
            <a:r>
              <a:rPr sz="825" b="0">
                <a:solidFill>
                  <a:srgbClr val="66756F"/>
                </a:solidFill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7B8379-1569-45A9-BCBF-C19EB8E04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E7A5F"/>
                </a:solidFill>
              </a:defRPr>
            </a:pPr>
            <a:r>
              <a:rPr sz="1050" b="1">
                <a:solidFill>
                  <a:srgbClr val="0E7A5F"/>
                </a:solidFill>
              </a:rPr>
              <a:t>SUPERVISED 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A345F6-9506-4D4C-879D-FE6933FBA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92D27"/>
                </a:solidFill>
              </a:defRPr>
            </a:pPr>
            <a:r>
              <a:rPr sz="3150" b="1">
                <a:solidFill>
                  <a:srgbClr val="092D27"/>
                </a:solidFill>
              </a:rPr>
              <a:t>Calibrated Histogram</a:t>
            </a:r>
          </a:p>
          <a:p xmlns:a="http://schemas.openxmlformats.org/drawingml/2006/main">
            <a:pPr algn="l">
              <a:buNone/>
              <a:defRPr sz="3150" b="1">
                <a:solidFill>
                  <a:srgbClr val="092D27"/>
                </a:solidFill>
              </a:defRPr>
            </a:pPr>
            <a:r>
              <a:rPr sz="3150" b="1">
                <a:solidFill>
                  <a:srgbClr val="092D27"/>
                </a:solidFill>
              </a:rPr>
              <a:t>Gradient Boosting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FC82FE-8B89-448C-AB33-76CA92B3C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0"/>
            <a:ext cx="4857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6756F"/>
                </a:solidFill>
              </a:defRPr>
            </a:pPr>
            <a:r>
              <a:rPr sz="1500" b="0">
                <a:solidFill>
                  <a:srgbClr val="66756F"/>
                </a:solidFill>
              </a:rPr>
              <a:t>Learns non-linear combinations of timing, quantity, recurrence, exposure and ownership signals. Sigmoid calibration makes its probabilities more reliable for prioritisation.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7B8949-DB56-4F55-9755-30F2A59DE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1431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BFFA20-65EF-4878-A947-D0ACCCCA1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80975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92D27"/>
                </a:solidFill>
              </a:defRPr>
            </a:pPr>
            <a:r>
              <a:rPr sz="1650" b="1">
                <a:solidFill>
                  <a:srgbClr val="092D27"/>
                </a:solidFill>
              </a:rPr>
              <a:t>Isolation Forest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143A77-3649-4172-AE13-60A650E1F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495550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56F"/>
                </a:solidFill>
              </a:defRPr>
            </a:pPr>
            <a:r>
              <a:rPr sz="1200" b="0">
                <a:solidFill>
                  <a:srgbClr val="66756F"/>
                </a:solidFill>
              </a:rPr>
              <a:t>Flags behavioural outliers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AF1EEF-2C16-4A46-B22E-C2D4C5921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619250"/>
            <a:ext cx="21431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2916A3-76B9-40C8-877C-48F8CB0A7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180975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92D27"/>
                </a:solidFill>
              </a:defRPr>
            </a:pPr>
            <a:r>
              <a:rPr sz="1650" b="1">
                <a:solidFill>
                  <a:srgbClr val="092D27"/>
                </a:solidFill>
              </a:rPr>
              <a:t>Sigmoid calibration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9CEC2A-54C8-43E2-ACC8-C46566CB0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495550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56F"/>
                </a:solidFill>
              </a:defRPr>
            </a:pPr>
            <a:r>
              <a:rPr sz="1200" b="0">
                <a:solidFill>
                  <a:srgbClr val="66756F"/>
                </a:solidFill>
              </a:rPr>
              <a:t>Stabilises probability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521C66-4533-4245-A5C6-B6437BDE7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81375"/>
            <a:ext cx="21431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9AA63C-A337-4375-AE93-4707F0C58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71875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92D27"/>
                </a:solidFill>
              </a:defRPr>
            </a:pPr>
            <a:r>
              <a:rPr sz="1650" b="1">
                <a:solidFill>
                  <a:srgbClr val="092D27"/>
                </a:solidFill>
              </a:rPr>
              <a:t>Transparent rules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2A901A-DAE9-4B2B-8F72-6C728E395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257675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56F"/>
                </a:solidFill>
              </a:defRPr>
            </a:pPr>
            <a:r>
              <a:rPr sz="1200" b="0">
                <a:solidFill>
                  <a:srgbClr val="66756F"/>
                </a:solidFill>
              </a:rPr>
              <a:t>Shows risk drivers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5A30C9-8BAA-40E5-8BA0-468146DFE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381375"/>
            <a:ext cx="21431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00D36A-43CC-4223-B3C4-0757BBA15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571875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92D27"/>
                </a:solidFill>
              </a:defRPr>
            </a:pPr>
            <a:r>
              <a:rPr sz="1650" b="1">
                <a:solidFill>
                  <a:srgbClr val="092D27"/>
                </a:solidFill>
              </a:rPr>
              <a:t>Weighted fusion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3AC057-BCF4-448A-B259-3BEFE5408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257675"/>
            <a:ext cx="180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56F"/>
                </a:solidFill>
              </a:defRPr>
            </a:pPr>
            <a:r>
              <a:rPr sz="1200" b="0">
                <a:solidFill>
                  <a:srgbClr val="66756F"/>
                </a:solidFill>
              </a:rPr>
              <a:t>45% rules · 55% ML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1789E5-38C0-42BE-89E6-5F7DB462E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10250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D94E4E"/>
                </a:solidFill>
              </a:defRPr>
            </a:pPr>
            <a:r>
              <a:rPr sz="1950" b="1">
                <a:solidFill>
                  <a:srgbClr val="D94E4E"/>
                </a:solidFill>
              </a:rPr>
              <a:t>Graph context enriches features. OpenAI explains cited evidence. Human review remains mandatory.</a:t>
            </a:r>
          </a:p>
        </p:txBody>
      </p:sp>
    </p:spTree>
    <p:extLst>
      <p:ext uri="{BB962C8B-B14F-4D97-AF65-F5344CB8AC3E}">
        <p14:creationId xmlns:p14="http://schemas.microsoft.com/office/powerpoint/2010/main" val="110622938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39f728799f4d42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27524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0aa11582974c53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27524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e3a3a24d0949d0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2752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2026-09-02T16:28:32.6370000Z</dcterms:created>
  <dcterms:modified xsi:type="dcterms:W3CDTF">2026-09-02T16:28:32.6370000Z</dcterms:modified>
</coreProperties>
</file>