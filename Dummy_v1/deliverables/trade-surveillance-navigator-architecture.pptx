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5ecec258474da0" /><Relationship Type="http://schemas.openxmlformats.org/officeDocument/2006/relationships/extended-properties" Target="/docProps/app.xml" Id="R8254c99f20834ca8" /><Relationship Type="http://schemas.openxmlformats.org/officeDocument/2006/relationships/officeDocument" Target="/ppt/presentation.xml" Id="Red7d85b9efc84a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ca6cc812884760"/>
  </p:sldMasterIdLst>
  <p:notesMasterIdLst>
    <p:notesMasterId xmlns:r="http://schemas.openxmlformats.org/officeDocument/2006/relationships" r:id="Rc944926588a048b2"/>
  </p:notesMasterIdLst>
  <p:sldIdLst>
    <p:sldId xmlns:r="http://schemas.openxmlformats.org/officeDocument/2006/relationships" id="256" r:id="R2b759b4705b94f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fc28ebf5824dc1" /><Relationship Type="http://schemas.openxmlformats.org/officeDocument/2006/relationships/slideMaster" Target="/ppt/slideMasters/slideMaster1.xml" Id="R0cca6cc812884760" /><Relationship Type="http://schemas.openxmlformats.org/officeDocument/2006/relationships/notesMaster" Target="/ppt/notesMasters/notesMaster1.xml" Id="Rc944926588a048b2" /><Relationship Type="http://schemas.openxmlformats.org/officeDocument/2006/relationships/presProps" Target="/ppt/presProps.xml" Id="R85b043a6493e4c48" /><Relationship Type="http://schemas.openxmlformats.org/officeDocument/2006/relationships/tableStyles" Target="/ppt/tableStyles.xml" Id="Rba00382c74f64edf" /><Relationship Type="http://schemas.openxmlformats.org/officeDocument/2006/relationships/slide" Target="/ppt/slides/slide1.xml" Id="R2b759b4705b94f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78dec33c284e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3c98a31cba4119" /><Relationship Type="http://schemas.openxmlformats.org/officeDocument/2006/relationships/notesMaster" Target="/ppt/notesMasters/notesMaster1.xml" Id="Rd7efd803828e48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f31ab965b49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38145cada94a3c" /><Relationship Type="http://schemas.openxmlformats.org/officeDocument/2006/relationships/slideLayout" Target="/ppt/slideLayouts/slideLayout1.xml" Id="Rb6df69293fae44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df69293fae44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458ea311d4c93" /><Relationship Type="http://schemas.openxmlformats.org/officeDocument/2006/relationships/notesSlide" Target="/ppt/notesSlides/notesSlide1.xml" Id="Rcbb3d9048ae94f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source-to-stream">
            <a:extLst xmlns:a="http://schemas.openxmlformats.org/drawingml/2006/main">
              <a:ext uri="{FF2B5EF4-FFF2-40B4-BE49-F238E27FC236}">
                <a16:creationId xmlns:a16="http://schemas.microsoft.com/office/drawing/2014/main" id="{3F79EDEE-764B-4596-A54E-6F51720D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85925"/>
            <a:ext cx="342900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" name="java-to-python">
            <a:extLst xmlns:a="http://schemas.openxmlformats.org/drawingml/2006/main">
              <a:ext uri="{FF2B5EF4-FFF2-40B4-BE49-F238E27FC236}">
                <a16:creationId xmlns:a16="http://schemas.microsoft.com/office/drawing/2014/main" id="{D3667555-1F30-4E37-B9BE-B936FAA2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43250"/>
            <a:ext cx="438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python-to-graph">
            <a:extLst xmlns:a="http://schemas.openxmlformats.org/drawingml/2006/main">
              <a:ext uri="{FF2B5EF4-FFF2-40B4-BE49-F238E27FC236}">
                <a16:creationId xmlns:a16="http://schemas.microsoft.com/office/drawing/2014/main" id="{C7D4C274-C1A8-4886-8785-B372CF69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143250"/>
            <a:ext cx="438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4" name="graph-to-evidence">
            <a:extLst xmlns:a="http://schemas.openxmlformats.org/drawingml/2006/main">
              <a:ext uri="{FF2B5EF4-FFF2-40B4-BE49-F238E27FC236}">
                <a16:creationId xmlns:a16="http://schemas.microsoft.com/office/drawing/2014/main" id="{A0CD829B-69F5-408D-ADFA-7E9CBEC5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143250"/>
            <a:ext cx="438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5" name="evidence-to-human">
            <a:extLst xmlns:a="http://schemas.openxmlformats.org/drawingml/2006/main">
              <a:ext uri="{FF2B5EF4-FFF2-40B4-BE49-F238E27FC236}">
                <a16:creationId xmlns:a16="http://schemas.microsoft.com/office/drawing/2014/main" id="{8E5B7615-4956-4C28-8CE3-FD79F7E7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10150"/>
            <a:ext cx="361950" cy="476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6" name="workflow-to-human">
            <a:extLst xmlns:a="http://schemas.openxmlformats.org/drawingml/2006/main">
              <a:ext uri="{FF2B5EF4-FFF2-40B4-BE49-F238E27FC236}">
                <a16:creationId xmlns:a16="http://schemas.microsoft.com/office/drawing/2014/main" id="{FCC55A3C-7A9C-44A3-B69C-33D4320F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10150"/>
            <a:ext cx="361950" cy="476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kicker">
            <a:extLst xmlns:a="http://schemas.openxmlformats.org/drawingml/2006/main">
              <a:ext uri="{FF2B5EF4-FFF2-40B4-BE49-F238E27FC236}">
                <a16:creationId xmlns:a16="http://schemas.microsoft.com/office/drawing/2014/main" id="{C3371850-2E80-4023-AAA0-223858DE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91B2"/>
                </a:solidFill>
              </a:defRPr>
            </a:pPr>
            <a:r>
              <a:rPr sz="975" b="1">
                <a:solidFill>
                  <a:srgbClr val="0891B2"/>
                </a:solidFill>
              </a:rPr>
              <a:t>TRADE SURVEILLANCE NAVIGATOR</a:t>
            </a:r>
          </a:p>
        </p:txBody>
      </p: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0FF8FAB-EC46-4E07-9D83-42C05FAB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F49"/>
                </a:solidFill>
              </a:defRPr>
            </a:pPr>
            <a:r>
              <a:rPr sz="2550" b="1">
                <a:solidFill>
                  <a:srgbClr val="082F49"/>
                </a:solidFill>
              </a:rPr>
              <a:t>Context-aware surveillance architecture</a:t>
            </a:r>
          </a:p>
        </p:txBody>
      </p:sp>
      <p:sp>
        <p:nvSpPr>
          <p:cNvPr id="9" name="subtitle">
            <a:extLst xmlns:a="http://schemas.openxmlformats.org/drawingml/2006/main">
              <a:ext uri="{FF2B5EF4-FFF2-40B4-BE49-F238E27FC236}">
                <a16:creationId xmlns:a16="http://schemas.microsoft.com/office/drawing/2014/main" id="{A40E4EA8-E2D1-4AC7-9A2B-BBC93222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Deterministic evidence, explainable ML and controlled human decisions</a:t>
            </a:r>
          </a:p>
        </p:txBody>
      </p:sp>
      <p:sp>
        <p:nvSpPr>
          <p:cNvPr id="10" name="source-0">
            <a:extLst xmlns:a="http://schemas.openxmlformats.org/drawingml/2006/main">
              <a:ext uri="{FF2B5EF4-FFF2-40B4-BE49-F238E27FC236}">
                <a16:creationId xmlns:a16="http://schemas.microsoft.com/office/drawing/2014/main" id="{52A0EB83-6905-4897-9A94-1B16D683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2000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source-title-0">
            <a:extLst xmlns:a="http://schemas.openxmlformats.org/drawingml/2006/main">
              <a:ext uri="{FF2B5EF4-FFF2-40B4-BE49-F238E27FC236}">
                <a16:creationId xmlns:a16="http://schemas.microsoft.com/office/drawing/2014/main" id="{DE65DE1D-51CA-482C-8AEE-DE0083E2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F49"/>
                </a:solidFill>
              </a:defRPr>
            </a:pPr>
            <a:r>
              <a:rPr sz="975" b="1">
                <a:solidFill>
                  <a:srgbClr val="082F49"/>
                </a:solidFill>
              </a:rPr>
              <a:t>TRADES</a:t>
            </a:r>
          </a:p>
        </p:txBody>
      </p:sp>
      <p:sp>
        <p:nvSpPr>
          <p:cNvPr id="12" name="source-sub-0">
            <a:extLst xmlns:a="http://schemas.openxmlformats.org/drawingml/2006/main">
              <a:ext uri="{FF2B5EF4-FFF2-40B4-BE49-F238E27FC236}">
                <a16:creationId xmlns:a16="http://schemas.microsoft.com/office/drawing/2014/main" id="{6AD739F0-BE9A-40CA-8048-14E59A3A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771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Orders · fills</a:t>
            </a:r>
          </a:p>
        </p:txBody>
      </p:sp>
      <p:sp>
        <p:nvSpPr>
          <p:cNvPr id="13" name="source-1">
            <a:extLst xmlns:a="http://schemas.openxmlformats.org/drawingml/2006/main">
              <a:ext uri="{FF2B5EF4-FFF2-40B4-BE49-F238E27FC236}">
                <a16:creationId xmlns:a16="http://schemas.microsoft.com/office/drawing/2014/main" id="{CECBE803-EC23-4C60-8531-22F6E3C2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257300"/>
            <a:ext cx="2000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source-title-1">
            <a:extLst xmlns:a="http://schemas.openxmlformats.org/drawingml/2006/main">
              <a:ext uri="{FF2B5EF4-FFF2-40B4-BE49-F238E27FC236}">
                <a16:creationId xmlns:a16="http://schemas.microsoft.com/office/drawing/2014/main" id="{C2AA63A6-6557-4F93-918B-071D50CD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3620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F49"/>
                </a:solidFill>
              </a:defRPr>
            </a:pPr>
            <a:r>
              <a:rPr sz="975" b="1">
                <a:solidFill>
                  <a:srgbClr val="082F49"/>
                </a:solidFill>
              </a:rPr>
              <a:t>POSITIONS</a:t>
            </a:r>
          </a:p>
        </p:txBody>
      </p:sp>
      <p:sp>
        <p:nvSpPr>
          <p:cNvPr id="15" name="source-sub-1">
            <a:extLst xmlns:a="http://schemas.openxmlformats.org/drawingml/2006/main">
              <a:ext uri="{FF2B5EF4-FFF2-40B4-BE49-F238E27FC236}">
                <a16:creationId xmlns:a16="http://schemas.microsoft.com/office/drawing/2014/main" id="{44979CC7-BC79-456D-AAEF-7E6DCF0B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552575"/>
            <a:ext cx="1771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Exposure · P&amp;L</a:t>
            </a:r>
          </a:p>
        </p:txBody>
      </p:sp>
      <p:sp>
        <p:nvSpPr>
          <p:cNvPr id="16" name="source-2">
            <a:extLst xmlns:a="http://schemas.openxmlformats.org/drawingml/2006/main">
              <a:ext uri="{FF2B5EF4-FFF2-40B4-BE49-F238E27FC236}">
                <a16:creationId xmlns:a16="http://schemas.microsoft.com/office/drawing/2014/main" id="{F6BE897E-421D-4100-9EC5-69DF7BB1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257300"/>
            <a:ext cx="2000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source-title-2">
            <a:extLst xmlns:a="http://schemas.openxmlformats.org/drawingml/2006/main">
              <a:ext uri="{FF2B5EF4-FFF2-40B4-BE49-F238E27FC236}">
                <a16:creationId xmlns:a16="http://schemas.microsoft.com/office/drawing/2014/main" id="{2C6EFDD2-C09F-4532-906C-F3350F92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3620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F49"/>
                </a:solidFill>
              </a:defRPr>
            </a:pPr>
            <a:r>
              <a:rPr sz="975" b="1">
                <a:solidFill>
                  <a:srgbClr val="082F49"/>
                </a:solidFill>
              </a:rPr>
              <a:t>MARKET</a:t>
            </a:r>
          </a:p>
        </p:txBody>
      </p:sp>
      <p:sp>
        <p:nvSpPr>
          <p:cNvPr id="18" name="source-sub-2">
            <a:extLst xmlns:a="http://schemas.openxmlformats.org/drawingml/2006/main">
              <a:ext uri="{FF2B5EF4-FFF2-40B4-BE49-F238E27FC236}">
                <a16:creationId xmlns:a16="http://schemas.microsoft.com/office/drawing/2014/main" id="{28F20998-A2B7-43C9-A6DA-7E2A4EB2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552575"/>
            <a:ext cx="1771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Liquidity · volatility</a:t>
            </a:r>
          </a:p>
        </p:txBody>
      </p:sp>
      <p:sp>
        <p:nvSpPr>
          <p:cNvPr id="19" name="source-3">
            <a:extLst xmlns:a="http://schemas.openxmlformats.org/drawingml/2006/main">
              <a:ext uri="{FF2B5EF4-FFF2-40B4-BE49-F238E27FC236}">
                <a16:creationId xmlns:a16="http://schemas.microsoft.com/office/drawing/2014/main" id="{F1F10598-1413-48EC-B458-5BFB6DE8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257300"/>
            <a:ext cx="2000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source-title-3">
            <a:extLst xmlns:a="http://schemas.openxmlformats.org/drawingml/2006/main">
              <a:ext uri="{FF2B5EF4-FFF2-40B4-BE49-F238E27FC236}">
                <a16:creationId xmlns:a16="http://schemas.microsoft.com/office/drawing/2014/main" id="{2E0833F7-2617-43B6-A3D7-8E4EC9CF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3620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F49"/>
                </a:solidFill>
              </a:defRPr>
            </a:pPr>
            <a:r>
              <a:rPr sz="975" b="1">
                <a:solidFill>
                  <a:srgbClr val="082F49"/>
                </a:solidFill>
              </a:rPr>
              <a:t>ENTITIES</a:t>
            </a:r>
          </a:p>
        </p:txBody>
      </p:sp>
      <p:sp>
        <p:nvSpPr>
          <p:cNvPr id="21" name="source-sub-3">
            <a:extLst xmlns:a="http://schemas.openxmlformats.org/drawingml/2006/main">
              <a:ext uri="{FF2B5EF4-FFF2-40B4-BE49-F238E27FC236}">
                <a16:creationId xmlns:a16="http://schemas.microsoft.com/office/drawing/2014/main" id="{07B9E9BA-4816-4402-9B3D-DDB8F37B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52575"/>
            <a:ext cx="1771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Accounts · clients</a:t>
            </a:r>
          </a:p>
        </p:txBody>
      </p:sp>
      <p:sp>
        <p:nvSpPr>
          <p:cNvPr id="22" name="source-4">
            <a:extLst xmlns:a="http://schemas.openxmlformats.org/drawingml/2006/main">
              <a:ext uri="{FF2B5EF4-FFF2-40B4-BE49-F238E27FC236}">
                <a16:creationId xmlns:a16="http://schemas.microsoft.com/office/drawing/2014/main" id="{63343780-5BB0-444C-9D2E-E490D0DC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57300"/>
            <a:ext cx="2000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source-title-4">
            <a:extLst xmlns:a="http://schemas.openxmlformats.org/drawingml/2006/main">
              <a:ext uri="{FF2B5EF4-FFF2-40B4-BE49-F238E27FC236}">
                <a16:creationId xmlns:a16="http://schemas.microsoft.com/office/drawing/2014/main" id="{F5AE121D-6BCB-4840-9370-A00DB550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3620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F49"/>
                </a:solidFill>
              </a:defRPr>
            </a:pPr>
            <a:r>
              <a:rPr sz="975" b="1">
                <a:solidFill>
                  <a:srgbClr val="082F49"/>
                </a:solidFill>
              </a:rPr>
              <a:t>OWNERSHIP</a:t>
            </a:r>
          </a:p>
        </p:txBody>
      </p:sp>
      <p:sp>
        <p:nvSpPr>
          <p:cNvPr id="24" name="source-sub-4">
            <a:extLst xmlns:a="http://schemas.openxmlformats.org/drawingml/2006/main">
              <a:ext uri="{FF2B5EF4-FFF2-40B4-BE49-F238E27FC236}">
                <a16:creationId xmlns:a16="http://schemas.microsoft.com/office/drawing/2014/main" id="{BC650D90-93BA-4402-AB52-115124B5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52575"/>
            <a:ext cx="1771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UBO · relationships</a:t>
            </a:r>
          </a:p>
        </p:txBody>
      </p:sp>
      <p:sp>
        <p:nvSpPr>
          <p:cNvPr id="25" name="normalised-stream">
            <a:extLst xmlns:a="http://schemas.openxmlformats.org/drawingml/2006/main">
              <a:ext uri="{FF2B5EF4-FFF2-40B4-BE49-F238E27FC236}">
                <a16:creationId xmlns:a16="http://schemas.microsoft.com/office/drawing/2014/main" id="{BD188F33-847D-463B-83B8-4E194D11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05000"/>
            <a:ext cx="36195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26" name="stream-text">
            <a:extLst xmlns:a="http://schemas.openxmlformats.org/drawingml/2006/main">
              <a:ext uri="{FF2B5EF4-FFF2-40B4-BE49-F238E27FC236}">
                <a16:creationId xmlns:a16="http://schemas.microsoft.com/office/drawing/2014/main" id="{EE6C2BCE-09CA-496F-8957-3BE8569F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19300"/>
            <a:ext cx="327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VALIDATED + NORMALISED EVENT STREAM</a:t>
            </a:r>
          </a:p>
        </p:txBody>
      </p:sp>
      <p:sp>
        <p:nvSpPr>
          <p:cNvPr id="27" name="java-zone">
            <a:extLst xmlns:a="http://schemas.openxmlformats.org/drawingml/2006/main">
              <a:ext uri="{FF2B5EF4-FFF2-40B4-BE49-F238E27FC236}">
                <a16:creationId xmlns:a16="http://schemas.microsoft.com/office/drawing/2014/main" id="{8FD2FAE8-CFEC-4AA2-9300-07213A0A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28875"/>
            <a:ext cx="2571750" cy="25908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8" name="java-label">
            <a:extLst xmlns:a="http://schemas.openxmlformats.org/drawingml/2006/main">
              <a:ext uri="{FF2B5EF4-FFF2-40B4-BE49-F238E27FC236}">
                <a16:creationId xmlns:a16="http://schemas.microsoft.com/office/drawing/2014/main" id="{A38595E0-41E0-4C86-BA49-CC29FDAC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JAVA 21 · SPRING BOOT</a:t>
            </a:r>
          </a:p>
        </p:txBody>
      </p:sp>
      <p:sp>
        <p:nvSpPr>
          <p:cNvPr id="29" name="java-title">
            <a:extLst xmlns:a="http://schemas.openxmlformats.org/drawingml/2006/main">
              <a:ext uri="{FF2B5EF4-FFF2-40B4-BE49-F238E27FC236}">
                <a16:creationId xmlns:a16="http://schemas.microsoft.com/office/drawing/2014/main" id="{90C57BA7-E9CA-4A5F-B543-3B86CA32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2F49"/>
                </a:solidFill>
              </a:defRPr>
            </a:pPr>
            <a:r>
              <a:rPr sz="1875" b="1">
                <a:solidFill>
                  <a:srgbClr val="082F49"/>
                </a:solidFill>
              </a:rPr>
              <a:t>Control plane</a:t>
            </a:r>
          </a:p>
        </p:txBody>
      </p:sp>
      <p:sp>
        <p:nvSpPr>
          <p:cNvPr id="30" name="java-body">
            <a:extLst xmlns:a="http://schemas.openxmlformats.org/drawingml/2006/main">
              <a:ext uri="{FF2B5EF4-FFF2-40B4-BE49-F238E27FC236}">
                <a16:creationId xmlns:a16="http://schemas.microsoft.com/office/drawing/2014/main" id="{22B546E9-7486-465C-9872-B9EF07A7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095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2F49"/>
                </a:solidFill>
              </a:defRPr>
            </a:pPr>
            <a:r>
              <a:rPr sz="1200" b="0">
                <a:solidFill>
                  <a:srgbClr val="082F49"/>
                </a:solidFill>
              </a:rPr>
              <a:t>REST APIs</a:t>
            </a:r>
          </a:p>
          <a:p xmlns:a="http://schemas.openxmlformats.org/drawingml/2006/main">
            <a:pPr algn="l">
              <a:defRPr sz="1200" b="0">
                <a:solidFill>
                  <a:srgbClr val="082F49"/>
                </a:solidFill>
              </a:defRPr>
            </a:pPr>
            <a:r>
              <a:rPr sz="1200" b="0">
                <a:solidFill>
                  <a:srgbClr val="082F49"/>
                </a:solidFill>
              </a:rPr>
              <a:t>Schema validation</a:t>
            </a:r>
          </a:p>
          <a:p xmlns:a="http://schemas.openxmlformats.org/drawingml/2006/main">
            <a:pPr algn="l">
              <a:defRPr sz="1200" b="0">
                <a:solidFill>
                  <a:srgbClr val="082F49"/>
                </a:solidFill>
              </a:defRPr>
            </a:pPr>
            <a:r>
              <a:rPr sz="1200" b="0">
                <a:solidFill>
                  <a:srgbClr val="082F49"/>
                </a:solidFill>
              </a:rPr>
              <a:t>Workflow orchestration</a:t>
            </a:r>
          </a:p>
          <a:p xmlns:a="http://schemas.openxmlformats.org/drawingml/2006/main">
            <a:pPr algn="l">
              <a:defRPr sz="1200" b="0">
                <a:solidFill>
                  <a:srgbClr val="082F49"/>
                </a:solidFill>
              </a:defRPr>
            </a:pPr>
            <a:r>
              <a:rPr sz="1200" b="0">
                <a:solidFill>
                  <a:srgbClr val="082F49"/>
                </a:solidFill>
              </a:rPr>
              <a:t>Case management</a:t>
            </a:r>
          </a:p>
          <a:p xmlns:a="http://schemas.openxmlformats.org/drawingml/2006/main">
            <a:pPr algn="l">
              <a:defRPr sz="1200" b="0">
                <a:solidFill>
                  <a:srgbClr val="082F49"/>
                </a:solidFill>
              </a:defRPr>
            </a:pPr>
            <a:r>
              <a:rPr sz="1200" b="0">
                <a:solidFill>
                  <a:srgbClr val="082F49"/>
                </a:solidFill>
              </a:rPr>
              <a:t>Audit + version records</a:t>
            </a:r>
          </a:p>
        </p:txBody>
      </p:sp>
      <p:sp>
        <p:nvSpPr>
          <p:cNvPr id="31" name="python-zone">
            <a:extLst xmlns:a="http://schemas.openxmlformats.org/drawingml/2006/main">
              <a:ext uri="{FF2B5EF4-FFF2-40B4-BE49-F238E27FC236}">
                <a16:creationId xmlns:a16="http://schemas.microsoft.com/office/drawing/2014/main" id="{0AB2F1D0-5DD3-46ED-83CA-F80FD8C3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28875"/>
            <a:ext cx="2428875" cy="25908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32" name="python-label">
            <a:extLst xmlns:a="http://schemas.openxmlformats.org/drawingml/2006/main">
              <a:ext uri="{FF2B5EF4-FFF2-40B4-BE49-F238E27FC236}">
                <a16:creationId xmlns:a16="http://schemas.microsoft.com/office/drawing/2014/main" id="{998DC2DE-546D-465C-AE33-59D0EAE4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19375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PYTHON · FASTAPI</a:t>
            </a:r>
          </a:p>
        </p:txBody>
      </p:sp>
      <p:sp>
        <p:nvSpPr>
          <p:cNvPr id="33" name="python-title">
            <a:extLst xmlns:a="http://schemas.openxmlformats.org/drawingml/2006/main">
              <a:ext uri="{FF2B5EF4-FFF2-40B4-BE49-F238E27FC236}">
                <a16:creationId xmlns:a16="http://schemas.microsoft.com/office/drawing/2014/main" id="{764C6C24-6EB5-4F7A-A581-6C2EE9FF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9051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2F49"/>
                </a:solidFill>
              </a:defRPr>
            </a:pPr>
            <a:r>
              <a:rPr sz="1875" b="1">
                <a:solidFill>
                  <a:srgbClr val="082F49"/>
                </a:solidFill>
              </a:rPr>
              <a:t>Intelligence</a:t>
            </a:r>
          </a:p>
          <a:p xmlns:a="http://schemas.openxmlformats.org/drawingml/2006/main">
            <a:pPr algn="l">
              <a:defRPr sz="1875" b="1">
                <a:solidFill>
                  <a:srgbClr val="082F49"/>
                </a:solidFill>
              </a:defRPr>
            </a:pPr>
            <a:r>
              <a:rPr sz="1875" b="1">
                <a:solidFill>
                  <a:srgbClr val="082F49"/>
                </a:solidFill>
              </a:rPr>
              <a:t>plane</a:t>
            </a:r>
          </a:p>
        </p:txBody>
      </p:sp>
      <p:sp>
        <p:nvSpPr>
          <p:cNvPr id="34" name="python-body">
            <a:extLst xmlns:a="http://schemas.openxmlformats.org/drawingml/2006/main">
              <a:ext uri="{FF2B5EF4-FFF2-40B4-BE49-F238E27FC236}">
                <a16:creationId xmlns:a16="http://schemas.microsoft.com/office/drawing/2014/main" id="{30FAE1CB-D80D-42A0-B045-3138ED3C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38550"/>
            <a:ext cx="2047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82F49"/>
                </a:solidFill>
              </a:defRPr>
            </a:pPr>
            <a:r>
              <a:rPr sz="1125" b="0">
                <a:solidFill>
                  <a:srgbClr val="082F49"/>
                </a:solidFill>
              </a:rPr>
              <a:t>Trade matching</a:t>
            </a:r>
          </a:p>
          <a:p xmlns:a="http://schemas.openxmlformats.org/drawingml/2006/main">
            <a:pPr algn="l">
              <a:defRPr sz="1125" b="0">
                <a:solidFill>
                  <a:srgbClr val="082F49"/>
                </a:solidFill>
              </a:defRPr>
            </a:pPr>
            <a:r>
              <a:rPr sz="1125" b="0">
                <a:solidFill>
                  <a:srgbClr val="082F49"/>
                </a:solidFill>
              </a:rPr>
              <a:t>Position round trips</a:t>
            </a:r>
          </a:p>
          <a:p xmlns:a="http://schemas.openxmlformats.org/drawingml/2006/main">
            <a:pPr algn="l">
              <a:defRPr sz="1125" b="0">
                <a:solidFill>
                  <a:srgbClr val="082F49"/>
                </a:solidFill>
              </a:defRPr>
            </a:pPr>
            <a:r>
              <a:rPr sz="1125" b="0">
                <a:solidFill>
                  <a:srgbClr val="082F49"/>
                </a:solidFill>
              </a:rPr>
              <a:t>Market normalisation</a:t>
            </a:r>
          </a:p>
          <a:p xmlns:a="http://schemas.openxmlformats.org/drawingml/2006/main">
            <a:pPr algn="l">
              <a:defRPr sz="1125" b="0">
                <a:solidFill>
                  <a:srgbClr val="082F49"/>
                </a:solidFill>
              </a:defRPr>
            </a:pPr>
            <a:r>
              <a:rPr sz="1125" b="0">
                <a:solidFill>
                  <a:srgbClr val="082F49"/>
                </a:solidFill>
              </a:rPr>
              <a:t>EBM + Isolation Forest</a:t>
            </a:r>
          </a:p>
          <a:p xmlns:a="http://schemas.openxmlformats.org/drawingml/2006/main">
            <a:pPr algn="l">
              <a:defRPr sz="1125" b="0">
                <a:solidFill>
                  <a:srgbClr val="082F49"/>
                </a:solidFill>
              </a:defRPr>
            </a:pPr>
            <a:r>
              <a:rPr sz="1125" b="0">
                <a:solidFill>
                  <a:srgbClr val="082F49"/>
                </a:solidFill>
              </a:rPr>
              <a:t>Alert clustering</a:t>
            </a:r>
          </a:p>
        </p:txBody>
      </p:sp>
      <p:sp>
        <p:nvSpPr>
          <p:cNvPr id="35" name="graph-zone">
            <a:extLst xmlns:a="http://schemas.openxmlformats.org/drawingml/2006/main">
              <a:ext uri="{FF2B5EF4-FFF2-40B4-BE49-F238E27FC236}">
                <a16:creationId xmlns:a16="http://schemas.microsoft.com/office/drawing/2014/main" id="{53FB8C69-3B6B-4E10-936F-B351772B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28875"/>
            <a:ext cx="2047875" cy="259080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6" name="graph-label">
            <a:extLst xmlns:a="http://schemas.openxmlformats.org/drawingml/2006/main">
              <a:ext uri="{FF2B5EF4-FFF2-40B4-BE49-F238E27FC236}">
                <a16:creationId xmlns:a16="http://schemas.microsoft.com/office/drawing/2014/main" id="{EED93D5A-DDDC-4D17-A7D3-1A56DE0A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19375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GRAPH ANALYTICS</a:t>
            </a:r>
          </a:p>
        </p:txBody>
      </p:sp>
      <p:sp>
        <p:nvSpPr>
          <p:cNvPr id="37" name="graph-title">
            <a:extLst xmlns:a="http://schemas.openxmlformats.org/drawingml/2006/main">
              <a:ext uri="{FF2B5EF4-FFF2-40B4-BE49-F238E27FC236}">
                <a16:creationId xmlns:a16="http://schemas.microsoft.com/office/drawing/2014/main" id="{DC82A9A9-CA6A-41F9-A3AD-46566EFC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05125"/>
            <a:ext cx="1666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F49"/>
                </a:solidFill>
              </a:defRPr>
            </a:pPr>
            <a:r>
              <a:rPr sz="1800" b="1">
                <a:solidFill>
                  <a:srgbClr val="082F49"/>
                </a:solidFill>
              </a:rPr>
              <a:t>Relationship</a:t>
            </a:r>
          </a:p>
          <a:p xmlns:a="http://schemas.openxmlformats.org/drawingml/2006/main">
            <a:pPr algn="l">
              <a:defRPr sz="1800" b="1">
                <a:solidFill>
                  <a:srgbClr val="082F49"/>
                </a:solidFill>
              </a:defRPr>
            </a:pPr>
            <a:r>
              <a:rPr sz="1800" b="1">
                <a:solidFill>
                  <a:srgbClr val="082F49"/>
                </a:solidFill>
              </a:rPr>
              <a:t>intelligence</a:t>
            </a:r>
          </a:p>
        </p:txBody>
      </p:sp>
      <p:sp>
        <p:nvSpPr>
          <p:cNvPr id="38" name="graph-body">
            <a:extLst xmlns:a="http://schemas.openxmlformats.org/drawingml/2006/main">
              <a:ext uri="{FF2B5EF4-FFF2-40B4-BE49-F238E27FC236}">
                <a16:creationId xmlns:a16="http://schemas.microsoft.com/office/drawing/2014/main" id="{2821F1F2-6AC1-49D3-AC1E-88EBC1F8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38550"/>
            <a:ext cx="1666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82F49"/>
                </a:solidFill>
              </a:defRPr>
            </a:pPr>
            <a:r>
              <a:rPr sz="1125" b="0">
                <a:solidFill>
                  <a:srgbClr val="082F49"/>
                </a:solidFill>
              </a:rPr>
              <a:t>Common control</a:t>
            </a:r>
          </a:p>
          <a:p xmlns:a="http://schemas.openxmlformats.org/drawingml/2006/main">
            <a:pPr algn="l">
              <a:defRPr sz="1125" b="0">
                <a:solidFill>
                  <a:srgbClr val="082F49"/>
                </a:solidFill>
              </a:defRPr>
            </a:pPr>
            <a:r>
              <a:rPr sz="1125" b="0">
                <a:solidFill>
                  <a:srgbClr val="082F49"/>
                </a:solidFill>
              </a:rPr>
              <a:t>Entity resolution</a:t>
            </a:r>
          </a:p>
          <a:p xmlns:a="http://schemas.openxmlformats.org/drawingml/2006/main">
            <a:pPr algn="l">
              <a:defRPr sz="1125" b="0">
                <a:solidFill>
                  <a:srgbClr val="082F49"/>
                </a:solidFill>
              </a:defRPr>
            </a:pPr>
            <a:r>
              <a:rPr sz="1125" b="0">
                <a:solidFill>
                  <a:srgbClr val="082F49"/>
                </a:solidFill>
              </a:rPr>
              <a:t>Synchronised edges</a:t>
            </a:r>
          </a:p>
          <a:p xmlns:a="http://schemas.openxmlformats.org/drawingml/2006/main">
            <a:pPr algn="l">
              <a:defRPr sz="1125" b="0">
                <a:solidFill>
                  <a:srgbClr val="082F49"/>
                </a:solidFill>
              </a:defRPr>
            </a:pPr>
            <a:r>
              <a:rPr sz="1125" b="0">
                <a:solidFill>
                  <a:srgbClr val="082F49"/>
                </a:solidFill>
              </a:rPr>
              <a:t>Circular motifs</a:t>
            </a:r>
          </a:p>
          <a:p xmlns:a="http://schemas.openxmlformats.org/drawingml/2006/main">
            <a:pPr algn="l">
              <a:defRPr sz="1125" b="0">
                <a:solidFill>
                  <a:srgbClr val="082F49"/>
                </a:solidFill>
              </a:defRPr>
            </a:pPr>
            <a:r>
              <a:rPr sz="1125" b="0">
                <a:solidFill>
                  <a:srgbClr val="082F49"/>
                </a:solidFill>
              </a:rPr>
              <a:t>Network clusters</a:t>
            </a:r>
          </a:p>
        </p:txBody>
      </p:sp>
      <p:sp>
        <p:nvSpPr>
          <p:cNvPr id="39" name="evidence-zone">
            <a:extLst xmlns:a="http://schemas.openxmlformats.org/drawingml/2006/main">
              <a:ext uri="{FF2B5EF4-FFF2-40B4-BE49-F238E27FC236}">
                <a16:creationId xmlns:a16="http://schemas.microsoft.com/office/drawing/2014/main" id="{AD0E5F3A-B73A-45AC-860B-582591F2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28875"/>
            <a:ext cx="2867025" cy="25908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40" name="evidence-label">
            <a:extLst xmlns:a="http://schemas.openxmlformats.org/drawingml/2006/main">
              <a:ext uri="{FF2B5EF4-FFF2-40B4-BE49-F238E27FC236}">
                <a16:creationId xmlns:a16="http://schemas.microsoft.com/office/drawing/2014/main" id="{B96C9A33-8B2B-4301-8C97-47B61EBF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619375"/>
            <a:ext cx="2486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580C"/>
                </a:solidFill>
              </a:defRPr>
            </a:pPr>
            <a:r>
              <a:rPr sz="1125" b="1">
                <a:solidFill>
                  <a:srgbClr val="EA580C"/>
                </a:solidFill>
              </a:rPr>
              <a:t>EVIDENCE + COPILOT</a:t>
            </a:r>
          </a:p>
        </p:txBody>
      </p:sp>
      <p:sp>
        <p:nvSpPr>
          <p:cNvPr id="41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B8AD8DCA-CDC1-415D-9E8B-BC16B495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05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2F49"/>
                </a:solidFill>
              </a:defRPr>
            </a:pPr>
            <a:r>
              <a:rPr sz="1875" b="1">
                <a:solidFill>
                  <a:srgbClr val="082F49"/>
                </a:solidFill>
              </a:rPr>
              <a:t>Explainable case</a:t>
            </a:r>
          </a:p>
        </p:txBody>
      </p:sp>
      <p:sp>
        <p:nvSpPr>
          <p:cNvPr id="42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31E028A3-F37E-4720-92E8-E3715605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390900"/>
            <a:ext cx="24003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2F49"/>
                </a:solidFill>
              </a:defRPr>
            </a:pPr>
            <a:r>
              <a:rPr sz="1200" b="0">
                <a:solidFill>
                  <a:srgbClr val="082F49"/>
                </a:solidFill>
              </a:rPr>
              <a:t>0–100 risk + confidence</a:t>
            </a:r>
          </a:p>
          <a:p xmlns:a="http://schemas.openxmlformats.org/drawingml/2006/main">
            <a:pPr algn="l">
              <a:defRPr sz="1200" b="0">
                <a:solidFill>
                  <a:srgbClr val="082F49"/>
                </a:solidFill>
              </a:defRPr>
            </a:pPr>
            <a:r>
              <a:rPr sz="1200" b="0">
                <a:solidFill>
                  <a:srgbClr val="082F49"/>
                </a:solidFill>
              </a:rPr>
              <a:t>Positive + negative factors</a:t>
            </a:r>
          </a:p>
          <a:p xmlns:a="http://schemas.openxmlformats.org/drawingml/2006/main">
            <a:pPr algn="l">
              <a:defRPr sz="1200" b="0">
                <a:solidFill>
                  <a:srgbClr val="082F49"/>
                </a:solidFill>
              </a:defRPr>
            </a:pPr>
            <a:r>
              <a:rPr sz="1200" b="0">
                <a:solidFill>
                  <a:srgbClr val="082F49"/>
                </a:solidFill>
              </a:rPr>
              <a:t>Claim → metric → source</a:t>
            </a:r>
          </a:p>
          <a:p xmlns:a="http://schemas.openxmlformats.org/drawingml/2006/main">
            <a:pPr algn="l">
              <a:defRPr sz="1200" b="0">
                <a:solidFill>
                  <a:srgbClr val="082F49"/>
                </a:solidFill>
              </a:defRPr>
            </a:pPr>
            <a:r>
              <a:rPr sz="1200" b="0">
                <a:solidFill>
                  <a:srgbClr val="082F49"/>
                </a:solidFill>
              </a:rPr>
              <a:t>Citation-constrained LLM</a:t>
            </a:r>
          </a:p>
          <a:p xmlns:a="http://schemas.openxmlformats.org/drawingml/2006/main">
            <a:pPr algn="l">
              <a:defRPr sz="1200" b="0">
                <a:solidFill>
                  <a:srgbClr val="082F49"/>
                </a:solidFill>
              </a:defRPr>
            </a:pPr>
            <a:r>
              <a:rPr sz="1200" b="0">
                <a:solidFill>
                  <a:srgbClr val="082F49"/>
                </a:solidFill>
              </a:rPr>
              <a:t>Investigation evidence pack</a:t>
            </a:r>
          </a:p>
        </p:txBody>
      </p:sp>
      <p:sp>
        <p:nvSpPr>
          <p:cNvPr id="43" name="human-zone">
            <a:extLst xmlns:a="http://schemas.openxmlformats.org/drawingml/2006/main">
              <a:ext uri="{FF2B5EF4-FFF2-40B4-BE49-F238E27FC236}">
                <a16:creationId xmlns:a16="http://schemas.microsoft.com/office/drawing/2014/main" id="{829009D5-4755-466A-9FD5-268B441E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76875"/>
            <a:ext cx="7810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82F49"/>
          </a:solidFill>
          <a:ln xmlns:a="http://schemas.openxmlformats.org/drawingml/2006/main" w="9525">
            <a:solidFill>
              <a:srgbClr val="082F49"/>
            </a:solidFill>
            <a:prstDash val="solid"/>
          </a:ln>
        </p:spPr>
      </p:sp>
      <p:sp>
        <p:nvSpPr>
          <p:cNvPr id="44" name="human-title">
            <a:extLst xmlns:a="http://schemas.openxmlformats.org/drawingml/2006/main">
              <a:ext uri="{FF2B5EF4-FFF2-40B4-BE49-F238E27FC236}">
                <a16:creationId xmlns:a16="http://schemas.microsoft.com/office/drawing/2014/main" id="{6205D04D-ECA6-4E30-ABE7-B04C5CDD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64832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E8F9"/>
                </a:solidFill>
              </a:defRPr>
            </a:pPr>
            <a:r>
              <a:rPr sz="1350" b="1">
                <a:solidFill>
                  <a:srgbClr val="67E8F9"/>
                </a:solidFill>
              </a:rPr>
              <a:t>HUMAN INVESTIGATOR DECISION</a:t>
            </a:r>
          </a:p>
        </p:txBody>
      </p:sp>
      <p:sp>
        <p:nvSpPr>
          <p:cNvPr id="45" name="human-actions">
            <a:extLst xmlns:a="http://schemas.openxmlformats.org/drawingml/2006/main">
              <a:ext uri="{FF2B5EF4-FFF2-40B4-BE49-F238E27FC236}">
                <a16:creationId xmlns:a16="http://schemas.microsoft.com/office/drawing/2014/main" id="{28DEEF2A-D3C6-4413-8DE3-9112DAD3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953125"/>
            <a:ext cx="719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Escalate  ·  Further review  ·  False positive  ·  Close  ·  Request information</a:t>
            </a:r>
          </a:p>
        </p:txBody>
      </p:sp>
      <p:sp>
        <p:nvSpPr>
          <p:cNvPr id="46" name="guardrail">
            <a:extLst xmlns:a="http://schemas.openxmlformats.org/drawingml/2006/main">
              <a:ext uri="{FF2B5EF4-FFF2-40B4-BE49-F238E27FC236}">
                <a16:creationId xmlns:a16="http://schemas.microsoft.com/office/drawing/2014/main" id="{B722DDE2-1C19-4B8B-A2CA-AD92287D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476875"/>
            <a:ext cx="1790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47" name="guardrail-title">
            <a:extLst xmlns:a="http://schemas.openxmlformats.org/drawingml/2006/main">
              <a:ext uri="{FF2B5EF4-FFF2-40B4-BE49-F238E27FC236}">
                <a16:creationId xmlns:a16="http://schemas.microsoft.com/office/drawing/2014/main" id="{E1CDDB93-73C1-4CF1-B81B-0B5EF1E2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6769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C2626"/>
                </a:solidFill>
              </a:defRPr>
            </a:pPr>
            <a:r>
              <a:rPr sz="1050" b="1">
                <a:solidFill>
                  <a:srgbClr val="DC2626"/>
                </a:solidFill>
              </a:rPr>
              <a:t>NO AUTONOMOUS</a:t>
            </a:r>
          </a:p>
          <a:p xmlns:a="http://schemas.openxmlformats.org/drawingml/2006/main">
            <a:pPr algn="ctr">
              <a:defRPr sz="1050" b="1">
                <a:solidFill>
                  <a:srgbClr val="DC2626"/>
                </a:solidFill>
              </a:defRPr>
            </a:pPr>
            <a:r>
              <a:rPr sz="1050" b="1">
                <a:solidFill>
                  <a:srgbClr val="DC2626"/>
                </a:solidFill>
              </a:rPr>
              <a:t>CASE CLOSURE</a:t>
            </a:r>
          </a:p>
        </p:txBody>
      </p:sp>
      <p:sp>
        <p:nvSpPr>
          <p:cNvPr id="48" name="footer">
            <a:extLst xmlns:a="http://schemas.openxmlformats.org/drawingml/2006/main">
              <a:ext uri="{FF2B5EF4-FFF2-40B4-BE49-F238E27FC236}">
                <a16:creationId xmlns:a16="http://schemas.microsoft.com/office/drawing/2014/main" id="{875D9C44-9AD6-4CCA-8212-9970B897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11201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91B2"/>
                </a:solidFill>
              </a:defRPr>
            </a:pPr>
            <a:r>
              <a:rPr sz="975" b="1">
                <a:solidFill>
                  <a:srgbClr val="0891B2"/>
                </a:solidFill>
              </a:rPr>
              <a:t>AI PRIORITISES  ·  EVIDENCE EXPLAINS  ·  HUMAN DECIDES</a:t>
            </a:r>
          </a:p>
        </p:txBody>
      </p:sp>
    </p:spTree>
    <p:extLst>
      <p:ext uri="{BB962C8B-B14F-4D97-AF65-F5344CB8AC3E}">
        <p14:creationId xmlns:p14="http://schemas.microsoft.com/office/powerpoint/2010/main" val="20738527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2026-08-25T05:43:48.8200000Z</dcterms:created>
  <dcterms:modified xsi:type="dcterms:W3CDTF">2026-08-25T05:43:48.8210000Z</dcterms:modified>
</coreProperties>
</file>