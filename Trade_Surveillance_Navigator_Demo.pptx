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6108fe47b7489d" /><Relationship Type="http://schemas.openxmlformats.org/officeDocument/2006/relationships/extended-properties" Target="/docProps/app.xml" Id="R10f5319f1cba4eed" /><Relationship Type="http://schemas.openxmlformats.org/officeDocument/2006/relationships/officeDocument" Target="/ppt/presentation.xml" Id="R95b1e7745f3145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abb42e7f1d4253"/>
  </p:sldMasterIdLst>
  <p:notesMasterIdLst>
    <p:notesMasterId xmlns:r="http://schemas.openxmlformats.org/officeDocument/2006/relationships" r:id="Rc43d3c983ab54c64"/>
  </p:notesMasterIdLst>
  <p:sldIdLst>
    <p:sldId xmlns:r="http://schemas.openxmlformats.org/officeDocument/2006/relationships" id="256" r:id="Rd79a709ec5c74e01"/>
    <p:sldId xmlns:r="http://schemas.openxmlformats.org/officeDocument/2006/relationships" id="257" r:id="R665aecab2afe44b2"/>
    <p:sldId xmlns:r="http://schemas.openxmlformats.org/officeDocument/2006/relationships" id="258" r:id="R31f6b63b24b64429"/>
    <p:sldId xmlns:r="http://schemas.openxmlformats.org/officeDocument/2006/relationships" id="259" r:id="R31177ca59fc94c10"/>
    <p:sldId xmlns:r="http://schemas.openxmlformats.org/officeDocument/2006/relationships" id="260" r:id="R00857a31cde24fa6"/>
    <p:sldId xmlns:r="http://schemas.openxmlformats.org/officeDocument/2006/relationships" id="261" r:id="R820402c7d54447bc"/>
    <p:sldId xmlns:r="http://schemas.openxmlformats.org/officeDocument/2006/relationships" id="262" r:id="Rf5ab512f66b44c89"/>
    <p:sldId xmlns:r="http://schemas.openxmlformats.org/officeDocument/2006/relationships" id="263" r:id="R4477845fb7b84b9c"/>
    <p:sldId xmlns:r="http://schemas.openxmlformats.org/officeDocument/2006/relationships" id="264" r:id="Rf15b2aab73da45f7"/>
    <p:sldId xmlns:r="http://schemas.openxmlformats.org/officeDocument/2006/relationships" id="265" r:id="R438bca9eae7c4051"/>
    <p:sldId xmlns:r="http://schemas.openxmlformats.org/officeDocument/2006/relationships" id="266" r:id="R66c2767cd6754cd4"/>
    <p:sldId xmlns:r="http://schemas.openxmlformats.org/officeDocument/2006/relationships" id="267" r:id="R45aef33d4f964f00"/>
    <p:sldId xmlns:r="http://schemas.openxmlformats.org/officeDocument/2006/relationships" id="268" r:id="R1e49529cb0854d28"/>
    <p:sldId xmlns:r="http://schemas.openxmlformats.org/officeDocument/2006/relationships" id="269" r:id="R95f28db75dbf48f7"/>
    <p:sldId xmlns:r="http://schemas.openxmlformats.org/officeDocument/2006/relationships" id="270" r:id="R12f7b397508d4bfa"/>
    <p:sldId xmlns:r="http://schemas.openxmlformats.org/officeDocument/2006/relationships" id="271" r:id="R0b213fd48f154b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e9cc41c98f43c3" /><Relationship Type="http://schemas.openxmlformats.org/officeDocument/2006/relationships/slideMaster" Target="/ppt/slideMasters/slideMaster1.xml" Id="R1cabb42e7f1d4253" /><Relationship Type="http://schemas.openxmlformats.org/officeDocument/2006/relationships/notesMaster" Target="/ppt/notesMasters/notesMaster1.xml" Id="Rc43d3c983ab54c64" /><Relationship Type="http://schemas.openxmlformats.org/officeDocument/2006/relationships/presProps" Target="/ppt/presProps.xml" Id="Rc7781492fffb41c6" /><Relationship Type="http://schemas.openxmlformats.org/officeDocument/2006/relationships/tableStyles" Target="/ppt/tableStyles.xml" Id="R6e0369f5207c4fee" /><Relationship Type="http://schemas.openxmlformats.org/officeDocument/2006/relationships/slide" Target="/ppt/slides/slide1.xml" Id="Rd79a709ec5c74e01" /><Relationship Type="http://schemas.openxmlformats.org/officeDocument/2006/relationships/slide" Target="/ppt/slides/slide2.xml" Id="R665aecab2afe44b2" /><Relationship Type="http://schemas.openxmlformats.org/officeDocument/2006/relationships/slide" Target="/ppt/slides/slide3.xml" Id="R31f6b63b24b64429" /><Relationship Type="http://schemas.openxmlformats.org/officeDocument/2006/relationships/slide" Target="/ppt/slides/slide4.xml" Id="R31177ca59fc94c10" /><Relationship Type="http://schemas.openxmlformats.org/officeDocument/2006/relationships/slide" Target="/ppt/slides/slide5.xml" Id="R00857a31cde24fa6" /><Relationship Type="http://schemas.openxmlformats.org/officeDocument/2006/relationships/slide" Target="/ppt/slides/slide6.xml" Id="R820402c7d54447bc" /><Relationship Type="http://schemas.openxmlformats.org/officeDocument/2006/relationships/slide" Target="/ppt/slides/slide7.xml" Id="Rf5ab512f66b44c89" /><Relationship Type="http://schemas.openxmlformats.org/officeDocument/2006/relationships/slide" Target="/ppt/slides/slide8.xml" Id="R4477845fb7b84b9c" /><Relationship Type="http://schemas.openxmlformats.org/officeDocument/2006/relationships/slide" Target="/ppt/slides/slide9.xml" Id="Rf15b2aab73da45f7" /><Relationship Type="http://schemas.openxmlformats.org/officeDocument/2006/relationships/slide" Target="/ppt/slides/slide10.xml" Id="R438bca9eae7c4051" /><Relationship Type="http://schemas.openxmlformats.org/officeDocument/2006/relationships/slide" Target="/ppt/slides/slide11.xml" Id="R66c2767cd6754cd4" /><Relationship Type="http://schemas.openxmlformats.org/officeDocument/2006/relationships/slide" Target="/ppt/slides/slide12.xml" Id="R45aef33d4f964f00" /><Relationship Type="http://schemas.openxmlformats.org/officeDocument/2006/relationships/slide" Target="/ppt/slides/slide13.xml" Id="R1e49529cb0854d28" /><Relationship Type="http://schemas.openxmlformats.org/officeDocument/2006/relationships/slide" Target="/ppt/slides/slide14.xml" Id="R95f28db75dbf48f7" /><Relationship Type="http://schemas.openxmlformats.org/officeDocument/2006/relationships/slide" Target="/ppt/slides/slide15.xml" Id="R12f7b397508d4bfa" /><Relationship Type="http://schemas.openxmlformats.org/officeDocument/2006/relationships/slide" Target="/ppt/slides/slide16.xml" Id="R0b213fd48f154b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0f4b3cd17946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cb2bc2677640f5" /><Relationship Type="http://schemas.openxmlformats.org/officeDocument/2006/relationships/notesMaster" Target="/ppt/notesMasters/notesMaster1.xml" Id="Rff149ecc6c454d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8fe11e132b4e72" /><Relationship Type="http://schemas.openxmlformats.org/officeDocument/2006/relationships/notesMaster" Target="/ppt/notesMasters/notesMaster1.xml" Id="R959e3fa5663542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3b47fe3eee40d4" /><Relationship Type="http://schemas.openxmlformats.org/officeDocument/2006/relationships/notesMaster" Target="/ppt/notesMasters/notesMaster1.xml" Id="Rbaaca2541bd742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62f298326f4238" /><Relationship Type="http://schemas.openxmlformats.org/officeDocument/2006/relationships/notesMaster" Target="/ppt/notesMasters/notesMaster1.xml" Id="Re72eeb0829a646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9d0a8c67664a3e" /><Relationship Type="http://schemas.openxmlformats.org/officeDocument/2006/relationships/notesMaster" Target="/ppt/notesMasters/notesMaster1.xml" Id="R8d1c2aae698e4d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56d89a77b141ff" /><Relationship Type="http://schemas.openxmlformats.org/officeDocument/2006/relationships/notesMaster" Target="/ppt/notesMasters/notesMaster1.xml" Id="R980a0aaba9ff40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eddcc881274c88" /><Relationship Type="http://schemas.openxmlformats.org/officeDocument/2006/relationships/notesMaster" Target="/ppt/notesMasters/notesMaster1.xml" Id="R97748d58677543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503d79ba994b03" /><Relationship Type="http://schemas.openxmlformats.org/officeDocument/2006/relationships/notesMaster" Target="/ppt/notesMasters/notesMaster1.xml" Id="R10817a68f8934e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6d32a443334337" /><Relationship Type="http://schemas.openxmlformats.org/officeDocument/2006/relationships/notesMaster" Target="/ppt/notesMasters/notesMaster1.xml" Id="R78fd1748ca664d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4f7273f2204333" /><Relationship Type="http://schemas.openxmlformats.org/officeDocument/2006/relationships/notesMaster" Target="/ppt/notesMasters/notesMaster1.xml" Id="Rf511dd18a3fd45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0847fca4304af2" /><Relationship Type="http://schemas.openxmlformats.org/officeDocument/2006/relationships/notesMaster" Target="/ppt/notesMasters/notesMaster1.xml" Id="R4b777d95706140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1bca11c0084efd" /><Relationship Type="http://schemas.openxmlformats.org/officeDocument/2006/relationships/notesMaster" Target="/ppt/notesMasters/notesMaster1.xml" Id="R513a6e0093f24f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516bbb1aeb40dd" /><Relationship Type="http://schemas.openxmlformats.org/officeDocument/2006/relationships/notesMaster" Target="/ppt/notesMasters/notesMaster1.xml" Id="R19e62223a87749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4462b713c94549" /><Relationship Type="http://schemas.openxmlformats.org/officeDocument/2006/relationships/notesMaster" Target="/ppt/notesMasters/notesMaster1.xml" Id="Re9124f63b7494f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bd3a163e8842de" /><Relationship Type="http://schemas.openxmlformats.org/officeDocument/2006/relationships/notesMaster" Target="/ppt/notesMasters/notesMaster1.xml" Id="Rc2b8276a318f4b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552325ecc440a7" /><Relationship Type="http://schemas.openxmlformats.org/officeDocument/2006/relationships/notesMaster" Target="/ppt/notesMasters/notesMaster1.xml" Id="Ra5c30a08bd9e49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cover taken exactly from the attached Next Round Deck.</a:t>
            </a:r>
          </a:p>
          <a:p xmlns:a="http://schemas.openxmlformats.org/drawingml/2006/main">
            <a:r>
              <a:t>Introduce the use case as AI-assisted wash-trading alert prioritisation and emphasise that investigators retain decision authority.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/Users/shivamshukla/Downloads/Trade_Surveillance_Navigator_Next_Round_Deck.pptx, slide 1</a:t>
            </a:r>
          </a:p>
          <a:p xmlns:a="http://schemas.openxmlformats.org/drawingml/2006/main">
            <a:r>
              <a:t>- Rendered source image: /Users/shivamshukla/Documents/Codex/2026-08-25/i-x20/attached-next-round-rendered/slide-1.png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problem: alert volume is not the same as investigative signal.</a:t>
            </a:r>
          </a:p>
          <a:p xmlns:a="http://schemas.openxmlformats.org/drawingml/2006/main">
            <a:r>
              <a:t>Static rules lack context, evidence remains fragmented and investigators spend time assembling facts before they can assess risk.</a:t>
            </a:r>
          </a:p>
          <a:p xmlns:a="http://schemas.openxmlformats.org/drawingml/2006/main">
            <a:r>
              <a:t>The slide intentionally uses no numerical claim; it frames the documented prototype objective.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/Users/shivamshukla/.codex/attachments/9a9f726b-71a2-4f7e-aa84-20169b6c7d19/pasted-text.txt</a:t>
            </a:r>
          </a:p>
          <a:p xmlns:a="http://schemas.openxmlformats.org/drawingml/2006/main">
            <a:r>
              <a:t>- OpenAI ImageGen asset: /Users/shivamshukla/Documents/HACKTHON/presentation-assets/00-problem-statement-alerts-vs-signal.png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scenario to show how legitimate context lowers priority without deleting the original alert.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 asset: /Users/shivamshukla/Documents/HACKTHON/presentation-assets/02-static-model-vs-surveillance-navigator.png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supervised model recognises known combinations; Isolation Forest contributes novel-behaviour detection.</a:t>
            </a:r>
          </a:p>
          <a:p xmlns:a="http://schemas.openxmlformats.org/drawingml/2006/main">
            <a:r>
              <a:t>The final score blends transparent rules with the trained ML result. OpenAI is an explanation layer only.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/Users/shivamshukla/Documents/HACKTHON/ml-service-python/scripts/train_model.py</a:t>
            </a:r>
          </a:p>
          <a:p xmlns:a="http://schemas.openxmlformats.org/drawingml/2006/main">
            <a:r>
              <a:t>- /Users/shivamshukla/Documents/HACKTHON/ml-service-python/app/ml_model.py</a:t>
            </a:r>
          </a:p>
          <a:p xmlns:a="http://schemas.openxmlformats.org/drawingml/2006/main">
            <a:r>
              <a:t>- /Users/shivamshukla/Documents/HACKTHON/ml-service-python/app/main.py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lists only the algorithms and services currently implemented in the prototype.</a:t>
            </a:r>
          </a:p>
          <a:p xmlns:a="http://schemas.openxmlformats.org/drawingml/2006/main">
            <a:r>
              <a:t>Emphasise that the OpenAI layer summarizes verified evidence; it does not classify misconduct or make the final decision.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Algorithm inventory supplied directly by Shivam Shukla on 2026-09-03.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visual to explain the false-positive reduction funnel and the role of machine learning in prioritization.</a:t>
            </a:r>
          </a:p>
          <a:p xmlns:a="http://schemas.openxmlformats.org/drawingml/2006/main">
            <a:r>
              <a:t>The investigator remains responsible for the final disposition.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 asset: /Users/shivamshukla/Documents/HACKTHON/presentation-assets/01-alert-noise-to-investigative-signal.png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visual to reinforce that AI prioritises and explains while the investigator owns the outcome.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 asset: /Users/shivamshukla/Documents/HACKTHON/presentation-assets/03-ai-prioritises-humans-decide.png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225c8c48241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228d81561f4e02" /><Relationship Type="http://schemas.openxmlformats.org/officeDocument/2006/relationships/slideLayout" Target="/ppt/slideLayouts/slideLayout1.xml" Id="Ree90eba7fd814e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90eba7fd814e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7bc89233a483e" /><Relationship Type="http://schemas.openxmlformats.org/officeDocument/2006/relationships/image" Target="/ppt/media/image.png" Id="Re33fca17c44c4253" /><Relationship Type="http://schemas.openxmlformats.org/officeDocument/2006/relationships/notesSlide" Target="/ppt/notesSlides/notesSlide1.xml" Id="R2edabb7570c14a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fb91b0428415d" /><Relationship Type="http://schemas.openxmlformats.org/officeDocument/2006/relationships/image" Target="/ppt/media/image2.png" Id="R51bdc16e732e409f" /><Relationship Type="http://schemas.openxmlformats.org/officeDocument/2006/relationships/notesSlide" Target="/ppt/notesSlides/notesSlide2.xml" Id="Ra93e5415f8714a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d9fa046d24207" /><Relationship Type="http://schemas.openxmlformats.org/officeDocument/2006/relationships/image" Target="/ppt/media/image3.png" Id="R581f74620e464e6c" /><Relationship Type="http://schemas.openxmlformats.org/officeDocument/2006/relationships/notesSlide" Target="/ppt/notesSlides/notesSlide3.xml" Id="R19ef1269ab2849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e56049df54dcc" /><Relationship Type="http://schemas.openxmlformats.org/officeDocument/2006/relationships/notesSlide" Target="/ppt/notesSlides/notesSlide4.xml" Id="Rd131332ea45742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cd9e8504741ad" /><Relationship Type="http://schemas.openxmlformats.org/officeDocument/2006/relationships/notesSlide" Target="/ppt/notesSlides/notesSlide5.xml" Id="Rda19bc2720ed4e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4b09bf3dc4cd5" /><Relationship Type="http://schemas.openxmlformats.org/officeDocument/2006/relationships/notesSlide" Target="/ppt/notesSlides/notesSlide6.xml" Id="R957460bacf5345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e716303124140" /><Relationship Type="http://schemas.openxmlformats.org/officeDocument/2006/relationships/notesSlide" Target="/ppt/notesSlides/notesSlide7.xml" Id="Rd3978ade0a164e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12fa9b9424855" /><Relationship Type="http://schemas.openxmlformats.org/officeDocument/2006/relationships/notesSlide" Target="/ppt/notesSlides/notesSlide8.xml" Id="R525adfb0d82d47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724e0716b4f2a" /><Relationship Type="http://schemas.openxmlformats.org/officeDocument/2006/relationships/notesSlide" Target="/ppt/notesSlides/notesSlide9.xml" Id="Rd441ccb62db247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d0e6f55454ecd" /><Relationship Type="http://schemas.openxmlformats.org/officeDocument/2006/relationships/notesSlide" Target="/ppt/notesSlides/notesSlide10.xml" Id="R92d30980c0a84b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98487f5464962" /><Relationship Type="http://schemas.openxmlformats.org/officeDocument/2006/relationships/notesSlide" Target="/ppt/notesSlides/notesSlide11.xml" Id="R34b0563c05f44d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af9ed08dc4d00" /><Relationship Type="http://schemas.openxmlformats.org/officeDocument/2006/relationships/image" Target="/ppt/media/image4.png" Id="R97974fb1347c4a86" /><Relationship Type="http://schemas.openxmlformats.org/officeDocument/2006/relationships/notesSlide" Target="/ppt/notesSlides/notesSlide12.xml" Id="R4f15e66c3d444c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2ce67805840c1" /><Relationship Type="http://schemas.openxmlformats.org/officeDocument/2006/relationships/notesSlide" Target="/ppt/notesSlides/notesSlide13.xml" Id="R0cfe18e89c0b49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631c2afbb43f2" /><Relationship Type="http://schemas.openxmlformats.org/officeDocument/2006/relationships/notesSlide" Target="/ppt/notesSlides/notesSlide14.xml" Id="Rfcad1b18c7c248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ba0dda1b84655" /><Relationship Type="http://schemas.openxmlformats.org/officeDocument/2006/relationships/notesSlide" Target="/ppt/notesSlides/notesSlide15.xml" Id="R0c11365c310f4c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511f8542d4de9" /><Relationship Type="http://schemas.openxmlformats.org/officeDocument/2006/relationships/image" Target="/ppt/media/image5.png" Id="R8d3ebb30158147d9" /><Relationship Type="http://schemas.openxmlformats.org/officeDocument/2006/relationships/notesSlide" Target="/ppt/notesSlides/notesSlide16.xml" Id="Rd8a6486cf7b440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fca17c44c42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2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dc16e732e409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f74620e464e6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13ED0-3FD1-4034-8FF1-F16B7020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SURVEILLANCE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5CB3A-BD1F-46FD-88FE-1DD1F62B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current queue sees alerts; </a:t>
            </a:r>
            <a:r>
              <a:rPr sz="2850" b="1">
                <a:solidFill>
                  <a:srgbClr val="092D27"/>
                </a:solidFill>
              </a:rPr>
              <a:t>Trade Surveillance Navigator</a:t>
            </a:r>
            <a:r>
              <a:rPr sz="2850" b="1">
                <a:solidFill>
                  <a:srgbClr val="092D27"/>
                </a:solidFill>
              </a:rPr>
              <a:t> sees the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72C5E-A5C6-481D-8D7A-E7210233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46984-B667-41FA-86D8-F3D0F9E1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6D571-1364-4889-BD2F-303B2F20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4E4E"/>
                </a:solidFill>
              </a:defRPr>
            </a:pPr>
            <a:r>
              <a:rPr sz="1200" b="1">
                <a:solidFill>
                  <a:srgbClr val="D94E4E"/>
                </a:solidFill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88357-64C0-434B-BE1F-6D6443C6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31 isolated rule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28EDE-3200-450C-A76B-B0FC6E2B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Repeated review of trades, accounts and context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with weak prioritisation and manual evidence gathering.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2A43D-79C9-4ADE-9A7E-437E1D91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62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E7A5F"/>
                </a:solidFill>
              </a:defRPr>
            </a:pPr>
            <a:r>
              <a:rPr sz="1200" b="1">
                <a:solidFill>
                  <a:srgbClr val="0E7A5F"/>
                </a:solidFill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F60AA-BC3A-4576-9BB6-79587501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1 prioritised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17501-8765-4722-B2D5-02CFE53B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67 trades · 4 accounts · 1 common UBO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7 round trips · 2 venues · full evidence lineage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6AFF0-8E6E-4574-9538-E2A09A69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1057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3D806-3C51-4C9A-B2A4-3121AA96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92D27"/>
                </a:solidFill>
              </a:defRPr>
            </a:pPr>
            <a:r>
              <a:rPr sz="1800" b="1">
                <a:solidFill>
                  <a:srgbClr val="092D27"/>
                </a:solidFill>
              </a:rPr>
              <a:t>The product does not create more alerts. It compresses, contextualises and prioritises the alerts already generated.</a:t>
            </a:r>
          </a:p>
        </p:txBody>
      </p:sp>
    </p:spTree>
    <p:extLst>
      <p:ext uri="{BB962C8B-B14F-4D97-AF65-F5344CB8AC3E}">
        <p14:creationId xmlns:p14="http://schemas.microsoft.com/office/powerpoint/2010/main" val="1751729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7892A-2ADE-4606-AD82-BCC013E3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SURVEILLANCE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DDD96-5029-487F-9F86-16A9260C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A controlled hybrid architecture keeps AI in the right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6BDF2-9906-4F49-B80F-82C9A13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3D882-D5E9-40DF-845F-8A87ACFB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493C2-A41B-4CA7-A1FF-CF77452E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23BE7-04F5-4873-85B9-8B3679DD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2D27"/>
                </a:solidFill>
              </a:defRPr>
            </a:pPr>
            <a:r>
              <a:rPr sz="1500" b="1">
                <a:solidFill>
                  <a:srgbClr val="092D27"/>
                </a:solidFill>
              </a:rPr>
              <a:t>DETERMINISTIC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F3E3A-BFB9-4CD7-90A7-8D0D3D6E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64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Timing · price · size · exposure · liquidity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FF32F-65A6-4900-9480-F336BD5D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17A5F-5842-4128-BD76-ED34E67E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2D27"/>
                </a:solidFill>
              </a:defRPr>
            </a:pPr>
            <a:r>
              <a:rPr sz="1500" b="1">
                <a:solidFill>
                  <a:srgbClr val="092D27"/>
                </a:solidFill>
              </a:rPr>
              <a:t>ML / STATS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52FD2-F0B7-43C6-8A89-E16226C3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765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EBM ranking · anomaly · peer deviation · clustering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FEAF4-97F8-40F7-B222-42EABA06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1D413-E7BC-45EE-9638-59E47B54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2D27"/>
                </a:solidFill>
              </a:defRPr>
            </a:pPr>
            <a:r>
              <a:rPr sz="1500" b="1">
                <a:solidFill>
                  <a:srgbClr val="092D27"/>
                </a:solidFill>
              </a:rPr>
              <a:t>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DAE37-0988-4855-AA94-2266FC29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766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Common control · repeated edges · circular motifs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B0E41-E776-40AB-B734-D7F819A7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AA2F5-47E0-4E66-921F-72B6CF17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E7A5F"/>
                </a:solidFill>
              </a:defRPr>
            </a:pPr>
            <a:r>
              <a:rPr sz="1500" b="1">
                <a:solidFill>
                  <a:srgbClr val="0E7A5F"/>
                </a:solidFill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A49E6-A614-435A-A584-A3AD8A44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Evidence synthesis · timeline · rationale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F0C7D-4DAF-4CB9-9E59-B9015DDF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94E4E"/>
                </a:solidFill>
              </a:defRPr>
            </a:pPr>
            <a:r>
              <a:rPr sz="2025" b="1">
                <a:solidFill>
                  <a:srgbClr val="D94E4E"/>
                </a:solidFill>
              </a:rPr>
              <a:t>No evidence → no factual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49917-695F-47B9-B8EA-FF3DFE51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10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2025" b="1">
                <a:solidFill>
                  <a:srgbClr val="D94E4E"/>
                </a:solidFill>
              </a:defRPr>
            </a:pPr>
            <a:r>
              <a:rPr sz="2025" b="1">
                <a:solidFill>
                  <a:srgbClr val="D94E4E"/>
                </a:solidFill>
              </a:rPr>
              <a:t>No autonomous disposition</a:t>
            </a:r>
          </a:p>
        </p:txBody>
      </p:sp>
    </p:spTree>
    <p:extLst>
      <p:ext uri="{BB962C8B-B14F-4D97-AF65-F5344CB8AC3E}">
        <p14:creationId xmlns:p14="http://schemas.microsoft.com/office/powerpoint/2010/main" val="18785889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559DD-6AA7-4779-8256-4045FE69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SURVEILLANCE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F651A-F536-43C4-B38C-7D2F6190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strongest MVP model is explainable by 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6118D-F0D8-4468-8D80-EC2FF66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DFDBA-88B2-4437-9B9E-7F89303A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B8379-1569-45A9-BCBF-C19EB8E0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CHAMPION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345F6-9506-4D4C-879D-FE6933FB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Calibrated Explainable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Boosting Machine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C82FE-8B89-448C-AB33-76CA92B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Learns non-linear feature shapes and governed interactions while exposing each local contribution. Isotonic calibration converts ranking outputs into stable prioritisation bands.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B8949-DB56-4F55-9755-30F2A59D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FFA20-65EF-4878-A947-D0ACCCC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Isolation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43A77-3649-4172-AE13-60A650E1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Behaviour anomaly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F1EEF-2C16-4A46-B22E-C2D4C59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916A3-76B9-40C8-877C-48F8CB0A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Min-cost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CEC2A-54C8-43E2-ACC8-C46566CB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Fragment matching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21C66-4533-4245-A5C6-B6437BDE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AA63C-A337-4375-AE93-4707F0C5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Probabilistic linkage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A901A-DAE9-4B2B-8F72-6C728E39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Entity resolution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A30C9-8BAA-40E5-8BA0-468146DF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0D36A-43CC-4223-B3C4-0757BBA1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Constrained clustering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AC057-BCF4-448A-B259-3BEFE540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Case compression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789E5-38C0-42BE-89E6-5F7DB462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94E4E"/>
                </a:solidFill>
              </a:defRPr>
            </a:pPr>
            <a:r>
              <a:rPr sz="1950" b="1">
                <a:solidFill>
                  <a:srgbClr val="D94E4E"/>
                </a:solidFill>
              </a:rPr>
              <a:t>The score is priority—not the probability that abuse occurred.</a:t>
            </a:r>
          </a:p>
        </p:txBody>
      </p:sp>
    </p:spTree>
    <p:extLst>
      <p:ext uri="{BB962C8B-B14F-4D97-AF65-F5344CB8AC3E}">
        <p14:creationId xmlns:p14="http://schemas.microsoft.com/office/powerpoint/2010/main" val="11062293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559DD-6AA7-4779-8256-4045FE69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SURVEILLANCE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F651A-F536-43C4-B38C-7D2F6190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Hybrid ML detects known patterns and novel anomalies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6118D-F0D8-4468-8D80-EC2FF66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DFDBA-88B2-4437-9B9E-7F89303A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B8379-1569-45A9-BCBF-C19EB8E0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SUPERVISED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345F6-9506-4D4C-879D-FE6933FB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Calibrated Histogram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Gradient Boosting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C82FE-8B89-448C-AB33-76CA92B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Learns non-linear combinations of timing, quantity, recurrence, exposure and ownership signals. Sigmoid calibration makes its probabilities more reliable for prioritisation.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B8949-DB56-4F55-9755-30F2A59D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FFA20-65EF-4878-A947-D0ACCCC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Isolation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43A77-3649-4172-AE13-60A650E1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Flags behavioural outliers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F1EEF-2C16-4A46-B22E-C2D4C59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916A3-76B9-40C8-877C-48F8CB0A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Sigmoid calibration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CEC2A-54C8-43E2-ACC8-C46566CB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Stabilises probability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21C66-4533-4245-A5C6-B6437BDE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AA63C-A337-4375-AE93-4707F0C5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Transparent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A901A-DAE9-4B2B-8F72-6C728E39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Shows risk drivers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A30C9-8BAA-40E5-8BA0-468146DF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0D36A-43CC-4223-B3C4-0757BBA1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Weighted fusion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AC057-BCF4-448A-B259-3BEFE540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45% rules · 55% 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789E5-38C0-42BE-89E6-5F7DB462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94E4E"/>
                </a:solidFill>
              </a:defRPr>
            </a:pPr>
            <a:r>
              <a:rPr sz="1950" b="1">
                <a:solidFill>
                  <a:srgbClr val="D94E4E"/>
                </a:solidFill>
              </a:rPr>
              <a:t>Graph context enriches features. OpenAI explains cited evidence. Human review remains mandatory.</a:t>
            </a:r>
          </a:p>
        </p:txBody>
      </p:sp>
    </p:spTree>
    <p:extLst>
      <p:ext uri="{BB962C8B-B14F-4D97-AF65-F5344CB8AC3E}">
        <p14:creationId xmlns:p14="http://schemas.microsoft.com/office/powerpoint/2010/main" val="11062293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559DD-6AA7-4779-8256-4045FE69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SURVEILLANCE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F651A-F536-43C4-B38C-7D2F6190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Implemented ML produces an explainable priority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6118D-F0D8-4468-8D80-EC2FF66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DFDBA-88B2-4437-9B9E-7F89303A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12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533400" y="1428750"/>
          <a:ext xmlns:a="http://schemas.openxmlformats.org/drawingml/2006/main" cx="111252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429000"/>
                <a:gridCol w="5314950"/>
              </a:tblGrid>
              <a:tr h="4191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COMPONENT</a:t>
                      </a:r>
                    </a:p>
                  </a:txBody>
                  <a:tcPr marL="114300" marR="114300" marT="66675" marB="66675" anchor="ctr">
                    <a:solidFill>
                      <a:srgbClr val="0E7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ALGORITHM</a:t>
                      </a:r>
                    </a:p>
                  </a:txBody>
                  <a:tcPr marL="114300" marR="114300" marT="66675" marB="66675" anchor="ctr">
                    <a:solidFill>
                      <a:srgbClr val="0E7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PURPOSE</a:t>
                      </a:r>
                    </a:p>
                  </a:txBody>
                  <a:tcPr marL="114300" marR="114300" marT="66675" marB="66675" anchor="ctr">
                    <a:solidFill>
                      <a:srgbClr val="0E7A5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92D27"/>
                          </a:solidFill>
                          <a:latin typeface="Calibri"/>
                          <a:ea typeface="Calibri"/>
                          <a:cs typeface="Calibri"/>
                        </a:rPr>
                        <a:t>Supervised detection</a:t>
                      </a:r>
                    </a:p>
                  </a:txBody>
                  <a:tcPr marL="114300" marR="114300" marT="57150" marB="57150" anchor="ctr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7A5F"/>
                          </a:solidFill>
                          <a:latin typeface="Calibri"/>
                          <a:ea typeface="Calibri"/>
                          <a:cs typeface="Calibri"/>
                        </a:rPr>
                        <a:t>HistGradientBoostingClassifier</a:t>
                      </a:r>
                    </a:p>
                  </a:txBody>
                  <a:tcPr marL="114300" marR="114300" marT="57150" marB="57150" anchor="ctr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B36"/>
                          </a:solidFill>
                          <a:latin typeface="Calibri"/>
                          <a:ea typeface="Calibri"/>
                          <a:cs typeface="Calibri"/>
                        </a:rPr>
                        <a:t>Learns suspicious behavioural combinations from labelled records</a:t>
                      </a:r>
                    </a:p>
                  </a:txBody>
                  <a:tcPr marL="114300" marR="114300" marT="57150" marB="57150" anchor="ctr">
                    <a:solidFill>
                      <a:srgbClr val="F4F8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92D27"/>
                          </a:solidFill>
                          <a:latin typeface="Calibri"/>
                          <a:ea typeface="Calibri"/>
                          <a:cs typeface="Calibri"/>
                        </a:rPr>
                        <a:t>Probability calibration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7A5F"/>
                          </a:solidFill>
                          <a:latin typeface="Calibri"/>
                          <a:ea typeface="Calibri"/>
                          <a:cs typeface="Calibri"/>
                        </a:rPr>
                        <a:t>CalibratedClassifierCV + sigmoid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B36"/>
                          </a:solidFill>
                          <a:latin typeface="Calibri"/>
                          <a:ea typeface="Calibri"/>
                          <a:cs typeface="Calibri"/>
                        </a:rPr>
                        <a:t>Makes classifier probabilities more meaningful for prioritisation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92D27"/>
                          </a:solidFill>
                          <a:latin typeface="Calibri"/>
                          <a:ea typeface="Calibri"/>
                          <a:cs typeface="Calibri"/>
                        </a:rPr>
                        <a:t>Anomaly detection</a:t>
                      </a:r>
                    </a:p>
                  </a:txBody>
                  <a:tcPr marL="114300" marR="114300" marT="57150" marB="57150" anchor="ctr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7A5F"/>
                          </a:solidFill>
                          <a:latin typeface="Calibri"/>
                          <a:ea typeface="Calibri"/>
                          <a:cs typeface="Calibri"/>
                        </a:rPr>
                        <a:t>IsolationForest</a:t>
                      </a:r>
                    </a:p>
                  </a:txBody>
                  <a:tcPr marL="114300" marR="114300" marT="57150" marB="57150" anchor="ctr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B36"/>
                          </a:solidFill>
                          <a:latin typeface="Calibri"/>
                          <a:ea typeface="Calibri"/>
                          <a:cs typeface="Calibri"/>
                        </a:rPr>
                        <a:t>Flags unusual behaviour, including patterns weakly represented in training</a:t>
                      </a:r>
                    </a:p>
                  </a:txBody>
                  <a:tcPr marL="114300" marR="114300" marT="57150" marB="57150" anchor="ctr">
                    <a:solidFill>
                      <a:srgbClr val="F4F8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92D27"/>
                          </a:solidFill>
                          <a:latin typeface="Calibri"/>
                          <a:ea typeface="Calibri"/>
                          <a:cs typeface="Calibri"/>
                        </a:rPr>
                        <a:t>Transparent scoring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7A5F"/>
                          </a:solidFill>
                          <a:latin typeface="Calibri"/>
                          <a:ea typeface="Calibri"/>
                          <a:cs typeface="Calibri"/>
                        </a:rPr>
                        <a:t>Weighted rules + logistic transformation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B36"/>
                          </a:solidFill>
                          <a:latin typeface="Calibri"/>
                          <a:ea typeface="Calibri"/>
                          <a:cs typeface="Calibri"/>
                        </a:rPr>
                        <a:t>Shows explainable risk drivers and risk reducers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92D27"/>
                          </a:solidFill>
                          <a:latin typeface="Calibri"/>
                          <a:ea typeface="Calibri"/>
                          <a:cs typeface="Calibri"/>
                        </a:rPr>
                        <a:t>Hybrid ensemble</a:t>
                      </a:r>
                    </a:p>
                  </a:txBody>
                  <a:tcPr marL="114300" marR="114300" marT="57150" marB="57150" anchor="ctr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7A5F"/>
                          </a:solidFill>
                          <a:latin typeface="Calibri"/>
                          <a:ea typeface="Calibri"/>
                          <a:cs typeface="Calibri"/>
                        </a:rPr>
                        <a:t>Rules + supervised ML + anomaly score</a:t>
                      </a:r>
                    </a:p>
                  </a:txBody>
                  <a:tcPr marL="114300" marR="114300" marT="57150" marB="57150" anchor="ctr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B36"/>
                          </a:solidFill>
                          <a:latin typeface="Calibri"/>
                          <a:ea typeface="Calibri"/>
                          <a:cs typeface="Calibri"/>
                        </a:rPr>
                        <a:t>Produces the final prioritisation score</a:t>
                      </a:r>
                    </a:p>
                  </a:txBody>
                  <a:tcPr marL="114300" marR="114300" marT="57150" marB="57150" anchor="ctr">
                    <a:solidFill>
                      <a:srgbClr val="F4F8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92D27"/>
                          </a:solidFill>
                          <a:latin typeface="Calibri"/>
                          <a:ea typeface="Calibri"/>
                          <a:cs typeface="Calibri"/>
                        </a:rPr>
                        <a:t>Entity / graph intelligence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7A5F"/>
                          </a:solidFill>
                          <a:latin typeface="Calibri"/>
                          <a:ea typeface="Calibri"/>
                          <a:cs typeface="Calibri"/>
                        </a:rPr>
                        <a:t>Common-control and relationship features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B36"/>
                          </a:solidFill>
                          <a:latin typeface="Calibri"/>
                          <a:ea typeface="Calibri"/>
                          <a:cs typeface="Calibri"/>
                        </a:rPr>
                        <a:t>Raises risk when accounts or entities appear connected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92D27"/>
                          </a:solidFill>
                          <a:latin typeface="Calibri"/>
                          <a:ea typeface="Calibri"/>
                          <a:cs typeface="Calibri"/>
                        </a:rPr>
                        <a:t>OpenAI LLM</a:t>
                      </a:r>
                    </a:p>
                  </a:txBody>
                  <a:tcPr marL="114300" marR="114300" marT="57150" marB="57150" anchor="ctr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E7A5F"/>
                          </a:solidFill>
                          <a:latin typeface="Calibri"/>
                          <a:ea typeface="Calibri"/>
                          <a:cs typeface="Calibri"/>
                        </a:rPr>
                        <a:t>Responses API</a:t>
                      </a:r>
                    </a:p>
                  </a:txBody>
                  <a:tcPr marL="114300" marR="114300" marT="57150" marB="57150" anchor="ctr"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43B36"/>
                          </a:solidFill>
                          <a:latin typeface="Calibri"/>
                          <a:ea typeface="Calibri"/>
                          <a:cs typeface="Calibri"/>
                        </a:rPr>
                        <a:t>Turns verified evidence into an investigator-readable summary only</a:t>
                      </a:r>
                    </a:p>
                  </a:txBody>
                  <a:tcPr marL="114300" marR="114300" marT="57150" marB="57150" anchor="ctr"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2293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A279E-CFBC-4B87-B529-02F3ECC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SURVEILLANCE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0B72D-93FE-4538-9DB0-EEBD8103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Context can push the same rule pattern in opposite directions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376E7-0F9B-4259-A902-7B1AFE29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960BE-1B94-4664-9DA5-E7CC5C52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B1BF2-49B6-499E-9A8A-AD19862F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4E4E"/>
                </a:solidFill>
              </a:defRPr>
            </a:pPr>
            <a:r>
              <a:rPr sz="1125" b="1">
                <a:solidFill>
                  <a:srgbClr val="D94E4E"/>
                </a:solidFill>
              </a:rPr>
              <a:t>ILLQUID + LINKED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0407B-F489-44C1-BC8D-1E7DBBAC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D94E4E"/>
                </a:solidFill>
              </a:defRPr>
            </a:pPr>
            <a:r>
              <a:rPr sz="4800" b="1">
                <a:solidFill>
                  <a:srgbClr val="D94E4E"/>
                </a:solidFill>
              </a:rPr>
              <a:t>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2C7BE-694C-48FA-8D80-ECEBBF89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8 seconds · 99.8% size match · 7 cycles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Common UBO · 0.3% net exposure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6251F-4D4D-4335-98DE-0BBB132B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7A5F"/>
                </a:solidFill>
              </a:defRPr>
            </a:pPr>
            <a:r>
              <a:rPr sz="1125" b="1">
                <a:solidFill>
                  <a:srgbClr val="0E7A5F"/>
                </a:solidFill>
              </a:rPr>
              <a:t>LIQUID + VOLATILE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4E2C6-B8E1-49D5-BB45-9998459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E7A5F"/>
                </a:solidFill>
              </a:defRPr>
            </a:pPr>
            <a:r>
              <a:rPr sz="4800" b="1">
                <a:solidFill>
                  <a:srgbClr val="0E7A5F"/>
                </a:solidFill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F92B0-B495-4FAD-AF5E-0AB8FE49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High-volume event · normal strategy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No resolved link · genuine position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5AAA2-FFBD-4837-BD59-7CE6CEF0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7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789E4-F2D9-49B2-BEE9-2BC52838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RULE ALERT ≠ HIGH-RISK CASE</a:t>
            </a:r>
          </a:p>
        </p:txBody>
      </p:sp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0CABE9-EAC1-4222-8CBC-793DEA86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SURVEILLANCE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9F93C-B1E7-448C-97CF-A4D2CB86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score journey makes every intelligence gain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E2DCD-A2ED-43C8-8096-F980A1A8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68A17-1554-4F34-AF95-58DC8D91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D23BA-0831-4633-B97E-05E248E0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5A572-5C3F-40E9-9761-BB43782C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1C95A-AC06-4BAB-9DC0-7A08AA59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7CC06-A0E7-410E-AADE-4392A2CC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CFAF1-62B7-4EF5-A4EA-40E439D7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EEF4D-091F-4069-9FFC-F552482A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CD59E-BF97-437B-8467-5DC0DA8E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67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5C409-03D6-4275-9D71-278208C1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Pattern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B1980-6A76-4757-9F99-79987C33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BE5D9-9DFF-4A53-81B3-CA473D4C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84EA9-511A-4E9D-BC2C-26F105F7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71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B366F-73F0-4904-A613-F263ACA9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Market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65F5F-0D28-454C-A2EC-1E7876BA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F2ED5-C13C-4485-B5C8-EB264FD4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FE1D4-D81A-45EE-9BEE-A942EF0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83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F7A7F-F0F9-40A3-B2B7-C3041860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Exposure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AA0AAA-CE5C-4B6D-B034-83F7EDC4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2907B-6331-4558-B5DA-F6FE837E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F"/>
          </a:solidFill>
          <a:ln xmlns:a="http://schemas.openxmlformats.org/drawingml/2006/main" w="9525">
            <a:solidFill>
              <a:srgbClr val="0E7A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4C699-60C2-43F3-821B-FD148881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94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EC984-C201-4EA3-8FBC-A289301A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Entity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FA11A-E7F1-4074-9A4B-6F753237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6756F"/>
                </a:solidFill>
              </a:defRPr>
            </a:pPr>
            <a:r>
              <a:rPr sz="1725" b="0">
                <a:solidFill>
                  <a:srgbClr val="66756F"/>
                </a:solidFill>
              </a:rPr>
              <a:t>Every stage stores feature values, contributions, versions and evidence references.</a:t>
            </a:r>
          </a:p>
        </p:txBody>
      </p:sp>
    </p:spTree>
    <p:extLst>
      <p:ext uri="{BB962C8B-B14F-4D97-AF65-F5344CB8AC3E}">
        <p14:creationId xmlns:p14="http://schemas.microsoft.com/office/powerpoint/2010/main" val="7456476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C9CC4-DC21-48AA-96F5-0EA55428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SURVEILLANCE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AB85E-4FAE-4B30-8C17-82BDCD33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Every claim resolves to a metric and its source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C5FDC-F7B9-4602-A501-7C9E6249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447C8-85A9-4874-8A52-3DEA57EF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46060-F2D4-4C59-ADDC-3BE6672D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B54AA-3BCB-4652-9DAD-72B759DD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Rapid position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round trip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7CE71-BF2B-4B7F-BB49-41E011BE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098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6756F"/>
                </a:solidFill>
              </a:defRPr>
            </a:pPr>
            <a:r>
              <a:rPr sz="22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F3F22-C282-4DB6-AEBF-21F41E8C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34733-B838-4142-904E-821B0BDE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Net exposure ratio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= 0.30%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190F0-D63F-4D85-8A41-4BF8E50D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6756F"/>
                </a:solidFill>
              </a:defRPr>
            </a:pPr>
            <a:r>
              <a:rPr sz="22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329FA-E938-4F18-95AB-E9C67466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DCA38-D4E9-4806-AA30-E36B8571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92D27"/>
                </a:solidFill>
              </a:defRPr>
            </a:pPr>
            <a:r>
              <a:rPr sz="2175" b="1">
                <a:solidFill>
                  <a:srgbClr val="092D27"/>
                </a:solidFill>
              </a:rPr>
              <a:t>[Trade:T183]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092D27"/>
                </a:solidFill>
              </a:defRPr>
            </a:pPr>
            <a:r>
              <a:rPr sz="2175" b="1">
                <a:solidFill>
                  <a:srgbClr val="092D27"/>
                </a:solidFill>
              </a:rPr>
              <a:t>[Position:P905]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E52E5-2C05-4D38-AD37-056D4E85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057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E2828-0E1D-4BAA-B02F-DDE13270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92D27"/>
                </a:solidFill>
              </a:defRPr>
            </a:pPr>
            <a:r>
              <a:rPr sz="1875" b="0">
                <a:solidFill>
                  <a:srgbClr val="092D27"/>
                </a:solidFill>
              </a:rPr>
              <a:t>“Seven repeated opposing cycles between linked accounts generated high turnover while returning close to the opening position.”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4B8AC-6EA6-4D11-9A2E-37DAB38A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E7A5F"/>
                </a:solidFill>
              </a:defRPr>
            </a:pPr>
            <a:r>
              <a:rPr sz="1200" b="1">
                <a:solidFill>
                  <a:srgbClr val="0E7A5F"/>
                </a:solidFill>
              </a:rPr>
              <a:t>[Trade:T183] [Trade:T187] [Position:P901] [Position:P905] [Ownership:O29]</a:t>
            </a:r>
          </a:p>
        </p:txBody>
      </p:sp>
    </p:spTree>
    <p:extLst>
      <p:ext uri="{BB962C8B-B14F-4D97-AF65-F5344CB8AC3E}">
        <p14:creationId xmlns:p14="http://schemas.microsoft.com/office/powerpoint/2010/main" val="6368560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74fb1347c4a8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6A658-546F-4FD8-BD44-ED7FF990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SURVEILLANCE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1E457-261C-407F-A392-EE698287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prototype demonstrates four judge-ready moments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985C1-A052-4648-9241-90B6B4A4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61362-9D2D-45A5-B3F9-65DD6A01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13D77-A6F7-4E9D-85E2-B29BFB7D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C20B5-1422-49C2-B433-AC956EC5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428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Obvious high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88E1D-21EF-4C00-8E4A-08A6770C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D94E4E"/>
                </a:solidFill>
              </a:defRPr>
            </a:pPr>
            <a:r>
              <a:rPr sz="1875" b="1">
                <a:solidFill>
                  <a:srgbClr val="D94E4E"/>
                </a:solidFill>
              </a:rPr>
              <a:t>94 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D935F-45BA-49EF-8E1B-FC53DBCD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EA2C9-A9D0-4455-A83C-133DB57C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DB34C-DF21-48C0-87A2-DABE08C1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24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False-positive reduction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0FE50-EB9E-4A75-A6D8-0D7652BE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24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0E7A5F"/>
                </a:solidFill>
              </a:defRPr>
            </a:pPr>
            <a:r>
              <a:rPr sz="1875" b="1">
                <a:solidFill>
                  <a:srgbClr val="0E7A5F"/>
                </a:solidFill>
              </a:rPr>
              <a:t>22 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71D5D-66CF-419C-8B9A-0E890948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99D52-01BF-4A4D-AA56-4C2F214D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3C20B-84C8-4A3B-84D6-13DB1E68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19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AI connects the dots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1A6EC-ED76-47C7-99B0-67FF448D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D94E4E"/>
                </a:solidFill>
              </a:defRPr>
            </a:pPr>
            <a:r>
              <a:rPr sz="1875" b="1">
                <a:solidFill>
                  <a:srgbClr val="D94E4E"/>
                </a:solidFill>
              </a:rPr>
              <a:t>46 → 87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DB5FF-819C-46F2-8804-55F74F94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47166-146F-45BB-AD2D-E02992CA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B7FF6-3166-4EC4-9C56-38253F28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148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Coordinated 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EF0B0-5CA7-4906-B29B-4700CF11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14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D94E4E"/>
                </a:solidFill>
              </a:defRPr>
            </a:pPr>
            <a:r>
              <a:rPr sz="1875" b="1">
                <a:solidFill>
                  <a:srgbClr val="D94E4E"/>
                </a:solidFill>
              </a:rPr>
              <a:t>Weak trades → strong case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17827-242C-435C-A894-5A633823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054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112234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8DC33-9EBE-4EBC-973C-4A13800A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SURVEILLANCE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8EFE9-F3ED-4DBF-94DB-2C76AAB3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One month is enough when sophistication is sequenced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D6018-23B9-4630-93AA-B0D2AD03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CE1CA-7A24-4B4D-84A7-06B6E862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89448-8714-4D41-AE1F-459A3E78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ABD1E-9989-4381-BCF5-6FE26131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2131E-05C5-4A18-A414-B5F66AC7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Trade → alert → risk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A43E3-C91D-4ECF-93E2-83865C01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Matching · recurrence · exposure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DF1DD-6C8C-41F6-85BC-D3540B43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009FF-346D-4B1D-81A1-D40286E2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B6C89-FAC8-42C2-9FB1-CF163BD4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Alert → context → prioritised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953C2-0DE6-4C4E-A85C-249270CB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Market · baseline · entity · cluster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5FC14-748F-42E1-9ECF-4779C23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F0092-DEA5-4BFA-BAE0-614997D1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3DFB4-5101-4EA5-A99A-766588A8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Case → evidence → investigator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7490C-BF74-409C-A244-C31F16F1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Citations · confidence ·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59B0D-E0C1-48D6-9401-8D0B7B73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4EB2A-A90E-41ED-81B2-89B760CF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0948A-FAC2-43A3-9B2B-DA23657A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Reliability, calibration and 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44445-5FC0-4FBB-8360-BCFEC8AA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QA · KPIs · rehearsal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6FAC4-AD5B-4647-85FF-4DB1EE36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92D27"/>
                </a:solidFill>
              </a:defRPr>
            </a:pPr>
            <a:r>
              <a:rPr sz="2100" b="1">
                <a:solidFill>
                  <a:srgbClr val="092D27"/>
                </a:solidFill>
              </a:rPr>
              <a:t>Stop chasing experimental graph ML. Win with a fully working, explainable flow.</a:t>
            </a:r>
          </a:p>
        </p:txBody>
      </p:sp>
    </p:spTree>
    <p:extLst>
      <p:ext uri="{BB962C8B-B14F-4D97-AF65-F5344CB8AC3E}">
        <p14:creationId xmlns:p14="http://schemas.microsoft.com/office/powerpoint/2010/main" val="17192763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7FAD3F-26F4-46C1-AF53-C2AC071A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SURVEILLANCE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4FEDB-6AA4-4EB8-ACEE-2193B371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Success is measured in evidence, priority and time saved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927FB-B447-4B1B-B9D6-5DCBAB54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7D60B-03F1-4858-BC44-6F0A2180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74D09-9D7A-4C92-BD45-ACFDBCB3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7F644-A587-4CC6-857B-1DCED728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F4651-AE10-4B08-B0D8-725CCBF0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citation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808C8-CA21-4816-8EF0-3E6A2E64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D9725-659A-4018-8883-95458626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99575-6A33-48DD-880B-9586BFF7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unsupported claims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69EB4-5152-4CDD-A624-410E45AE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D7C7F-AADB-4D9B-8B36-6A2F8CAF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67%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15812-99F5-4BC0-ADCB-AA6F1D32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synthetic case compression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3E9B8-703A-4306-8796-F5062AF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80506-BCD0-4A87-BE76-79651DF4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4 /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6A4B6-9925-4D3F-A124-CEBBC6C6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golden scenarios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E9934-880E-443B-9726-1C48436B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1057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736A62-2C70-4D45-A5CB-3896DE2A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D8B1"/>
                </a:solidFill>
              </a:defRPr>
            </a:pPr>
            <a:r>
              <a:rPr sz="1125" b="1">
                <a:solidFill>
                  <a:srgbClr val="64D8B1"/>
                </a:solidFill>
              </a:rPr>
              <a:t>Decision requested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A6332-AB4D-4B4C-B332-39CB6C2E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Approve a four-week MVP focused on evidence-backed case prioritisation.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287FE-73A3-40B8-ACF7-256A265E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E7A5F"/>
                </a:solidFill>
              </a:defRPr>
            </a:pPr>
            <a:r>
              <a:rPr sz="1875" b="1">
                <a:solidFill>
                  <a:srgbClr val="0E7A5F"/>
                </a:solidFill>
              </a:rPr>
              <a:t>AI prioritises. Evidence explains. Human decides.</a:t>
            </a:r>
          </a:p>
        </p:txBody>
      </p:sp>
    </p:spTree>
    <p:extLst>
      <p:ext uri="{BB962C8B-B14F-4D97-AF65-F5344CB8AC3E}">
        <p14:creationId xmlns:p14="http://schemas.microsoft.com/office/powerpoint/2010/main" val="16352439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ebb30158147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2026-09-03T01:51:47.2820000Z</dcterms:created>
  <dcterms:modified xsi:type="dcterms:W3CDTF">2026-09-03T01:51:47.2820000Z</dcterms:modified>
</coreProperties>
</file>